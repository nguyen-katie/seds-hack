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32a0a5c3-11f3-a0f9-aa5e-49e90e97bb67}">
          <p14:sldIdLst>
            <p14:sldId id="256"/>
            <p14:sldId id="257"/>
          </p14:sldIdLst>
        </p14:section>
        <p14:section name="Data" id="{37e437ab-52ea-4e43-73ee-90ee6305b320}">
          <p14:sldIdLst>
            <p14:sldId id="258"/>
          </p14:sldIdLst>
        </p14:section>
        <p14:section name="RadioML" id="{f345e4ad-e975-25e4-e660-59ded11f303e}">
          <p14:sldIdLst>
            <p14:sldId id="259"/>
            <p14:sldId id="260"/>
          </p14:sldIdLst>
        </p14:section>
        <p14:section name="Decoder" id="{a912180e-4733-6d04-860b-7572ada9a8d3}">
          <p14:sldIdLst>
            <p14:sldId id="261"/>
          </p14:sldIdLst>
        </p14:section>
        <p14:section name="Results" id="{a0a52891-f34e-a36e-53db-6b4eb14fa086}">
          <p14:sldIdLst>
            <p14:sldId id="262"/>
            <p14:sldId id="263"/>
            <p14:sldId id="264"/>
            <p14:sldId id="265"/>
          </p14:sldIdLst>
        </p14:section>
        <p14:section name="Autonomy" id="{141c1777-ba97-c59f-3ce3-ebdb128ca5ee}">
          <p14:sldIdLst>
            <p14:sldId id="266"/>
          </p14:sldIdLst>
        </p14:section>
        <p14:section name="Wrap-up" id="{e19ac6b5-c991-12e8-e362-9be0fa94e105}">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 from Earth, nobody can hand-tune a radio. Signals arrive weak, drift, and fade. When a few bits flip, the packet is thrown away. We built a receiver that handles this on its own, and tested it in two stages: on benchmark data, then on a real satellite.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spacecraft is far away, nobody on the ground can fix a problem in time. Signals arrive weak, drift with Doppler, and fade. A ground station that sees a failed checksum throws the packet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with RadioML, a benchmark of 220,000 synthetic signals. Then we moved to real recordings of SONATE-2, a German CubeSat, from SatNOGS volunteer ground stations. SatNOGS also publishes what their own decoders received, which we used as the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a small convolutional network on RadioML to recognise the modulation from raw samples. 84% at good signal levels, 57% overall, matching published results. Exploring the data we also found AM-SSB is essentially noise, a known error in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asked the RadioML model what it sees in real SONATE-2 recordings. It says FSK family 88 to 95 percent of the time, which is correct. But noise also looks FSK-like after our audio-to-I/Q conversion, so this is promising, not proof. It told us classifying isn't enough: to get telemetry we have to decode.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live demo now: python decoder.py data/satnogs/sonate2_15104225/audio.ogg. Then walk through the steps. Like tapping along to a song, we try several timings and keep whichever lines up. The checksum is like the last digit of a credit card. The key idea is repair: when a checksum fails, we know which bits we were least sure about, so we flip those and check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is what the ground station heard: mostly noise, with packet bursts faintly visible. Bottom is the clean signal we rebuilt from the verified packets.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is a packet that passed its checksum. Most are 146 or 271 bytes. Lining up payloads, we found a packet-type byte and a packet counter, which lets the receiver measure its own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decoders ran on the same recording. On the strong pass we got every packet SatNOGS did plus 9 more, and 7 of those were independently received by other stations, so they are real. On weaker passes we get about two thirds. 41 percent of our packets would have been lost without bit repair.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deep-space station has no SatNOGS to check against. But the satellite numbers its packets, so every gap is a packet we missed. On the strongest pass we lost only 3 percent. The counters lined up perfectly with other stations on every shared packet.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cut the signal out four times: it picked back up within 0.4 seconds every time, same packets as the clean run. We added noise: bit repair decodes twice as many packets near the limit, about one decibel. We shifted and drifted the frequency: constant offsets cost nothing; only very fast drift, beyond real Doppler, costs packets.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can reproduce every plot. Data downloads automatically; ground truth needs a free SatNOGS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upfront: we lose the weakest packets, we work from audio not raw radio data, and nobody can decode SONATE-2's fields because the format isn't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everything is on GitHub, reproducible.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154680"/>
            <a:ext cx="10698480" cy="731520"/>
          </a:xfrm>
          <a:prstGeom prst="rect">
            <a:avLst/>
          </a:prstGeom>
          <a:noFill/>
          <a:ln/>
        </p:spPr>
        <p:txBody>
          <a:bodyPr wrap="square" rtlCol="0"/>
          <a:lstStyle>
            <a:lvl1pPr algn="l" indent="0" marL="0">
              <a:buNone/>
              <a:defRPr lang="en-US" sz="2600" dirty="0">
                <a:solidFill>
                  <a:schemeClr val="accent4"/>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GHOST FRAMES  ·  Track 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188720"/>
          </a:xfrm>
          <a:prstGeom prst="rect">
            <a:avLst/>
          </a:prstGeom>
          <a:noFill/>
          <a:ln/>
        </p:spPr>
        <p:txBody>
          <a:bodyPr wrap="square" lIns="0" tIns="0" rIns="0" bIns="0" rtlCol="0" anchor="b"/>
          <a:lstStyle/>
          <a:p>
            <a:pPr algn="l" indent="0" marL="0">
              <a:buNone/>
            </a:pPr>
            <a:r>
              <a:rPr lang="en-US" sz="6000" b="1" dirty="0">
                <a:solidFill>
                  <a:schemeClr val="bg1"/>
                </a:solidFill>
              </a:rPr>
              <a:t>GHOST FRAMES</a:t>
            </a:r>
            <a:endParaRPr lang="en-US" sz="6000" dirty="0"/>
          </a:p>
        </p:txBody>
      </p:sp>
      <p:sp>
        <p:nvSpPr>
          <p:cNvPr id="3" name="Text 0"/>
          <p:cNvSpPr/>
          <p:nvPr>
            <p:ph idx="101" type="body" hasCustomPrompt="1"/>
          </p:nvPr>
        </p:nvSpPr>
        <p:spPr>
          <a:xfrm>
            <a:off x="731520" y="3154680"/>
            <a:ext cx="10698480" cy="731520"/>
          </a:xfrm>
          <a:prstGeom prst="rect">
            <a:avLst/>
          </a:prstGeom>
          <a:noFill/>
          <a:ln/>
        </p:spPr>
        <p:txBody>
          <a:bodyPr wrap="square" lIns="0" tIns="0" rIns="0" bIns="0" rtlCol="0" anchor="t"/>
          <a:lstStyle/>
          <a:p>
            <a:pPr algn="l" indent="0" marL="0">
              <a:buNone/>
            </a:pPr>
            <a:r>
              <a:rPr lang="en-US" sz="2600" dirty="0">
                <a:solidFill>
                  <a:schemeClr val="accent4"/>
                </a:solidFill>
              </a:rPr>
              <a:t>Recovering the satellite packets ground stations throw away</a:t>
            </a:r>
            <a:endParaRPr lang="en-US" sz="2600" dirty="0"/>
          </a:p>
        </p:txBody>
      </p:sp>
      <p:sp>
        <p:nvSpPr>
          <p:cNvPr id="4" name="event"/>
          <p:cNvSpPr txBox="1"/>
          <p:nvPr/>
        </p:nvSpPr>
        <p:spPr>
          <a:xfrm>
            <a:off x="731520" y="4937760"/>
            <a:ext cx="10698480" cy="365760"/>
          </a:xfrm>
          <a:prstGeom prst="rect">
            <a:avLst/>
          </a:prstGeom>
          <a:noFill/>
          <a:ln/>
        </p:spPr>
        <p:txBody>
          <a:bodyPr wrap="square" lIns="0" tIns="0" rIns="0" bIns="0" rtlCol="0" anchor="ctr"/>
          <a:lstStyle/>
          <a:p>
            <a:pPr indent="0" marL="0">
              <a:buNone/>
            </a:pPr>
            <a:r>
              <a:rPr lang="en-US" sz="1600" dirty="0">
                <a:solidFill>
                  <a:schemeClr val="bg1"/>
                </a:solidFill>
              </a:rPr>
              <a:t>MATLAB in Space Hackathon  ·  Track 1: Deep-Space Communication &amp; Signal Intelligence</a:t>
            </a:r>
            <a:endParaRPr lang="en-US" sz="1600" dirty="0"/>
          </a:p>
        </p:txBody>
      </p:sp>
      <p:sp>
        <p:nvSpPr>
          <p:cNvPr id="5" name="team"/>
          <p:cNvSpPr txBox="1"/>
          <p:nvPr/>
        </p:nvSpPr>
        <p:spPr>
          <a:xfrm>
            <a:off x="731520" y="5349240"/>
            <a:ext cx="10698480" cy="365760"/>
          </a:xfrm>
          <a:prstGeom prst="rect">
            <a:avLst/>
          </a:prstGeom>
          <a:noFill/>
          <a:ln/>
        </p:spPr>
        <p:txBody>
          <a:bodyPr wrap="square" lIns="0" tIns="0" rIns="0" bIns="0" rtlCol="0" anchor="ctr"/>
          <a:lstStyle/>
          <a:p>
            <a:pPr indent="0" marL="0">
              <a:buNone/>
            </a:pPr>
            <a:r>
              <a:rPr lang="en-US" sz="1600" dirty="0">
                <a:solidFill>
                  <a:schemeClr val="accent3"/>
                </a:solidFill>
              </a:rPr>
              <a:t>Katie Nguyen  ·  Wisena Joseph  ·  jha-ruch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Weak signals lose packets, and nobody can retune</a:t>
            </a:r>
            <a:endParaRPr lang="en-US" sz="3200" dirty="0"/>
          </a:p>
        </p:txBody>
      </p:sp>
      <p:sp>
        <p:nvSpPr>
          <p:cNvPr id="3" name="problem card Weak"/>
          <p:cNvSpPr/>
          <p:nvPr/>
        </p:nvSpPr>
        <p:spPr>
          <a:xfrm>
            <a:off x="548640" y="1417320"/>
            <a:ext cx="3474720" cy="2103120"/>
          </a:xfrm>
          <a:prstGeom prst="roundRect">
            <a:avLst>
              <a:gd name="adj" fmla="val 5217"/>
            </a:avLst>
          </a:prstGeom>
          <a:solidFill>
            <a:schemeClr val="bg2"/>
          </a:solidFill>
          <a:ln w="12700">
            <a:solidFill>
              <a:schemeClr val="bg2"/>
            </a:solidFill>
            <a:prstDash val="solid"/>
          </a:ln>
        </p:spPr>
      </p:sp>
      <p:sp>
        <p:nvSpPr>
          <p:cNvPr id="4" name="problem title Weak"/>
          <p:cNvSpPr txBox="1"/>
          <p:nvPr/>
        </p:nvSpPr>
        <p:spPr>
          <a:xfrm>
            <a:off x="822960" y="1645920"/>
            <a:ext cx="2926080" cy="548640"/>
          </a:xfrm>
          <a:prstGeom prst="rect">
            <a:avLst/>
          </a:prstGeom>
          <a:noFill/>
          <a:ln/>
        </p:spPr>
        <p:txBody>
          <a:bodyPr wrap="square" lIns="0" tIns="0" rIns="0" bIns="0" rtlCol="0" anchor="ctr"/>
          <a:lstStyle/>
          <a:p>
            <a:pPr indent="0" marL="0">
              <a:buNone/>
            </a:pPr>
            <a:r>
              <a:rPr lang="en-US" sz="2600" b="1" dirty="0">
                <a:solidFill>
                  <a:schemeClr val="accent2"/>
                </a:solidFill>
                <a:latin typeface="Arial" pitchFamily="34" charset="0"/>
                <a:ea typeface="Arial" pitchFamily="34" charset="-122"/>
                <a:cs typeface="Arial" pitchFamily="34" charset="-120"/>
              </a:rPr>
              <a:t>Weak</a:t>
            </a:r>
            <a:endParaRPr lang="en-US" sz="2600" dirty="0"/>
          </a:p>
        </p:txBody>
      </p:sp>
      <p:sp>
        <p:nvSpPr>
          <p:cNvPr id="5" name="problem text Weak"/>
          <p:cNvSpPr txBox="1"/>
          <p:nvPr/>
        </p:nvSpPr>
        <p:spPr>
          <a:xfrm>
            <a:off x="822960" y="2286000"/>
            <a:ext cx="2926080" cy="1005840"/>
          </a:xfrm>
          <a:prstGeom prst="rect">
            <a:avLst/>
          </a:prstGeom>
          <a:noFill/>
          <a:ln/>
        </p:spPr>
        <p:txBody>
          <a:bodyPr wrap="square" lIns="0" tIns="0" rIns="0" bIns="0" rtlCol="0" anchor="t"/>
          <a:lstStyle/>
          <a:p>
            <a:pPr indent="0" marL="0">
              <a:buNone/>
            </a:pPr>
            <a:r>
              <a:rPr lang="en-US" sz="1600" dirty="0">
                <a:solidFill>
                  <a:schemeClr val="tx1"/>
                </a:solidFill>
              </a:rPr>
              <a:t>Signals arrive buried in noise, especially near the horizon</a:t>
            </a:r>
            <a:endParaRPr lang="en-US" sz="1600" dirty="0"/>
          </a:p>
        </p:txBody>
      </p:sp>
      <p:sp>
        <p:nvSpPr>
          <p:cNvPr id="6" name="problem card Drifting"/>
          <p:cNvSpPr/>
          <p:nvPr/>
        </p:nvSpPr>
        <p:spPr>
          <a:xfrm>
            <a:off x="4297680" y="1417320"/>
            <a:ext cx="3474720" cy="2103120"/>
          </a:xfrm>
          <a:prstGeom prst="roundRect">
            <a:avLst>
              <a:gd name="adj" fmla="val 5217"/>
            </a:avLst>
          </a:prstGeom>
          <a:solidFill>
            <a:schemeClr val="bg2"/>
          </a:solidFill>
          <a:ln w="12700">
            <a:solidFill>
              <a:schemeClr val="bg2"/>
            </a:solidFill>
            <a:prstDash val="solid"/>
          </a:ln>
        </p:spPr>
      </p:sp>
      <p:sp>
        <p:nvSpPr>
          <p:cNvPr id="7" name="problem title Drifting"/>
          <p:cNvSpPr txBox="1"/>
          <p:nvPr/>
        </p:nvSpPr>
        <p:spPr>
          <a:xfrm>
            <a:off x="4572000" y="1645920"/>
            <a:ext cx="2926080" cy="548640"/>
          </a:xfrm>
          <a:prstGeom prst="rect">
            <a:avLst/>
          </a:prstGeom>
          <a:noFill/>
          <a:ln/>
        </p:spPr>
        <p:txBody>
          <a:bodyPr wrap="square" lIns="0" tIns="0" rIns="0" bIns="0" rtlCol="0" anchor="ctr"/>
          <a:lstStyle/>
          <a:p>
            <a:pPr indent="0" marL="0">
              <a:buNone/>
            </a:pPr>
            <a:r>
              <a:rPr lang="en-US" sz="2600" b="1" dirty="0">
                <a:solidFill>
                  <a:schemeClr val="accent2"/>
                </a:solidFill>
                <a:latin typeface="Arial" pitchFamily="34" charset="0"/>
                <a:ea typeface="Arial" pitchFamily="34" charset="-122"/>
                <a:cs typeface="Arial" pitchFamily="34" charset="-120"/>
              </a:rPr>
              <a:t>Drifting</a:t>
            </a:r>
            <a:endParaRPr lang="en-US" sz="2600" dirty="0"/>
          </a:p>
        </p:txBody>
      </p:sp>
      <p:sp>
        <p:nvSpPr>
          <p:cNvPr id="8" name="problem text Drifting"/>
          <p:cNvSpPr txBox="1"/>
          <p:nvPr/>
        </p:nvSpPr>
        <p:spPr>
          <a:xfrm>
            <a:off x="4572000" y="2286000"/>
            <a:ext cx="2926080" cy="1005840"/>
          </a:xfrm>
          <a:prstGeom prst="rect">
            <a:avLst/>
          </a:prstGeom>
          <a:noFill/>
          <a:ln/>
        </p:spPr>
        <p:txBody>
          <a:bodyPr wrap="square" lIns="0" tIns="0" rIns="0" bIns="0" rtlCol="0" anchor="t"/>
          <a:lstStyle/>
          <a:p>
            <a:pPr indent="0" marL="0">
              <a:buNone/>
            </a:pPr>
            <a:r>
              <a:rPr lang="en-US" sz="1600" dirty="0">
                <a:solidFill>
                  <a:schemeClr val="tx1"/>
                </a:solidFill>
              </a:rPr>
              <a:t>Doppler shifts the frequency throughout the pass</a:t>
            </a:r>
            <a:endParaRPr lang="en-US" sz="1600" dirty="0"/>
          </a:p>
        </p:txBody>
      </p:sp>
      <p:sp>
        <p:nvSpPr>
          <p:cNvPr id="9" name="problem card Fading"/>
          <p:cNvSpPr/>
          <p:nvPr/>
        </p:nvSpPr>
        <p:spPr>
          <a:xfrm>
            <a:off x="8046720" y="1417320"/>
            <a:ext cx="3474720" cy="2103120"/>
          </a:xfrm>
          <a:prstGeom prst="roundRect">
            <a:avLst>
              <a:gd name="adj" fmla="val 5217"/>
            </a:avLst>
          </a:prstGeom>
          <a:solidFill>
            <a:schemeClr val="bg2"/>
          </a:solidFill>
          <a:ln w="12700">
            <a:solidFill>
              <a:schemeClr val="bg2"/>
            </a:solidFill>
            <a:prstDash val="solid"/>
          </a:ln>
        </p:spPr>
      </p:sp>
      <p:sp>
        <p:nvSpPr>
          <p:cNvPr id="10" name="problem title Fading"/>
          <p:cNvSpPr txBox="1"/>
          <p:nvPr/>
        </p:nvSpPr>
        <p:spPr>
          <a:xfrm>
            <a:off x="8321040" y="1645920"/>
            <a:ext cx="2926080" cy="548640"/>
          </a:xfrm>
          <a:prstGeom prst="rect">
            <a:avLst/>
          </a:prstGeom>
          <a:noFill/>
          <a:ln/>
        </p:spPr>
        <p:txBody>
          <a:bodyPr wrap="square" lIns="0" tIns="0" rIns="0" bIns="0" rtlCol="0" anchor="ctr"/>
          <a:lstStyle/>
          <a:p>
            <a:pPr indent="0" marL="0">
              <a:buNone/>
            </a:pPr>
            <a:r>
              <a:rPr lang="en-US" sz="2600" b="1" dirty="0">
                <a:solidFill>
                  <a:schemeClr val="accent2"/>
                </a:solidFill>
                <a:latin typeface="Arial" pitchFamily="34" charset="0"/>
                <a:ea typeface="Arial" pitchFamily="34" charset="-122"/>
                <a:cs typeface="Arial" pitchFamily="34" charset="-120"/>
              </a:rPr>
              <a:t>Fading</a:t>
            </a:r>
            <a:endParaRPr lang="en-US" sz="2600" dirty="0"/>
          </a:p>
        </p:txBody>
      </p:sp>
      <p:sp>
        <p:nvSpPr>
          <p:cNvPr id="11" name="problem text Fading"/>
          <p:cNvSpPr txBox="1"/>
          <p:nvPr/>
        </p:nvSpPr>
        <p:spPr>
          <a:xfrm>
            <a:off x="8321040" y="2286000"/>
            <a:ext cx="2926080" cy="1005840"/>
          </a:xfrm>
          <a:prstGeom prst="rect">
            <a:avLst/>
          </a:prstGeom>
          <a:noFill/>
          <a:ln/>
        </p:spPr>
        <p:txBody>
          <a:bodyPr wrap="square" lIns="0" tIns="0" rIns="0" bIns="0" rtlCol="0" anchor="t"/>
          <a:lstStyle/>
          <a:p>
            <a:pPr indent="0" marL="0">
              <a:buNone/>
            </a:pPr>
            <a:r>
              <a:rPr lang="en-US" sz="1600" dirty="0">
                <a:solidFill>
                  <a:schemeClr val="tx1"/>
                </a:solidFill>
              </a:rPr>
              <a:t>The link drops out and comes back mid-pass</a:t>
            </a:r>
            <a:endParaRPr lang="en-US" sz="1600" dirty="0"/>
          </a:p>
        </p:txBody>
      </p:sp>
      <p:sp>
        <p:nvSpPr>
          <p:cNvPr id="12" name="problem statement"/>
          <p:cNvSpPr txBox="1"/>
          <p:nvPr/>
        </p:nvSpPr>
        <p:spPr>
          <a:xfrm>
            <a:off x="548640" y="4023360"/>
            <a:ext cx="11064240" cy="1463040"/>
          </a:xfrm>
          <a:prstGeom prst="rect">
            <a:avLst/>
          </a:prstGeom>
          <a:noFill/>
          <a:ln/>
        </p:spPr>
        <p:txBody>
          <a:bodyPr wrap="square" lIns="0" tIns="0" rIns="0" bIns="0" rtlCol="0" anchor="t"/>
          <a:lstStyle/>
          <a:p>
            <a:pPr indent="0" marL="0">
              <a:spcAft>
                <a:spcPts val="1000"/>
              </a:spcAft>
              <a:buNone/>
            </a:pPr>
            <a:r>
              <a:rPr lang="en-US" sz="2000" dirty="0">
                <a:solidFill>
                  <a:schemeClr val="tx1"/>
                </a:solidFill>
              </a:rPr>
              <a:t>A couple of flipped bits break the checksum, and the whole packet is discarded.</a:t>
            </a:r>
            <a:endParaRPr lang="en-US" sz="2000" dirty="0"/>
          </a:p>
          <a:p>
            <a:pPr indent="0" marL="0">
              <a:spcAft>
                <a:spcPts val="1000"/>
              </a:spcAft>
              <a:buNone/>
            </a:pPr>
            <a:r>
              <a:rPr lang="en-US" sz="2000" b="1" dirty="0">
                <a:solidFill>
                  <a:schemeClr val="tx2"/>
                </a:solidFill>
              </a:rPr>
              <a:t>Our question: can a receiver find, decode and repair these signals with no human tuning?</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Two stages: benchmark data, then a real satellite</a:t>
            </a:r>
            <a:endParaRPr lang="en-US" sz="3200" dirty="0"/>
          </a:p>
        </p:txBody>
      </p:sp>
      <p:sp>
        <p:nvSpPr>
          <p:cNvPr id="3" name="dataset card 0"/>
          <p:cNvSpPr/>
          <p:nvPr/>
        </p:nvSpPr>
        <p:spPr>
          <a:xfrm>
            <a:off x="548640" y="1371600"/>
            <a:ext cx="5394960" cy="3383280"/>
          </a:xfrm>
          <a:prstGeom prst="roundRect">
            <a:avLst>
              <a:gd name="adj" fmla="val 3243"/>
            </a:avLst>
          </a:prstGeom>
          <a:solidFill>
            <a:schemeClr val="bg2"/>
          </a:solidFill>
          <a:ln w="12700">
            <a:solidFill>
              <a:schemeClr val="bg2"/>
            </a:solidFill>
            <a:prstDash val="solid"/>
          </a:ln>
        </p:spPr>
      </p:sp>
      <p:sp>
        <p:nvSpPr>
          <p:cNvPr id="4" name="dataset step 0"/>
          <p:cNvSpPr txBox="1"/>
          <p:nvPr/>
        </p:nvSpPr>
        <p:spPr>
          <a:xfrm>
            <a:off x="868680" y="1600200"/>
            <a:ext cx="4754880" cy="365760"/>
          </a:xfrm>
          <a:prstGeom prst="rect">
            <a:avLst/>
          </a:prstGeom>
          <a:noFill/>
          <a:ln/>
        </p:spPr>
        <p:txBody>
          <a:bodyPr wrap="square" lIns="0" tIns="0" rIns="0" bIns="0" rtlCol="0" anchor="ctr"/>
          <a:lstStyle/>
          <a:p>
            <a:pPr indent="0" marL="0">
              <a:buNone/>
            </a:pPr>
            <a:r>
              <a:rPr lang="en-US" sz="1400" b="1" dirty="0">
                <a:solidFill>
                  <a:schemeClr val="accent1"/>
                </a:solidFill>
              </a:rPr>
              <a:t>1  ·  In the lab</a:t>
            </a:r>
            <a:endParaRPr lang="en-US" sz="1400" dirty="0"/>
          </a:p>
        </p:txBody>
      </p:sp>
      <p:sp>
        <p:nvSpPr>
          <p:cNvPr id="5" name="dataset name 0"/>
          <p:cNvSpPr txBox="1"/>
          <p:nvPr/>
        </p:nvSpPr>
        <p:spPr>
          <a:xfrm>
            <a:off x="868680" y="2011680"/>
            <a:ext cx="4754880" cy="548640"/>
          </a:xfrm>
          <a:prstGeom prst="rect">
            <a:avLst/>
          </a:prstGeom>
          <a:noFill/>
          <a:ln/>
        </p:spPr>
        <p:txBody>
          <a:bodyPr wrap="square" lIns="0" tIns="0" rIns="0" bIns="0" rtlCol="0" anchor="ctr"/>
          <a:lstStyle/>
          <a:p>
            <a:pPr indent="0" marL="0">
              <a:buNone/>
            </a:pPr>
            <a:r>
              <a:rPr lang="en-US" sz="2400" b="1" dirty="0">
                <a:solidFill>
                  <a:schemeClr val="tx2"/>
                </a:solidFill>
                <a:latin typeface="Arial" pitchFamily="34" charset="0"/>
                <a:ea typeface="Arial" pitchFamily="34" charset="-122"/>
                <a:cs typeface="Arial" pitchFamily="34" charset="-120"/>
              </a:rPr>
              <a:t>RadioML 2016.10A</a:t>
            </a:r>
            <a:endParaRPr lang="en-US" sz="2400" dirty="0"/>
          </a:p>
        </p:txBody>
      </p:sp>
      <p:sp>
        <p:nvSpPr>
          <p:cNvPr id="6" name="dataset items 0"/>
          <p:cNvSpPr txBox="1"/>
          <p:nvPr/>
        </p:nvSpPr>
        <p:spPr>
          <a:xfrm>
            <a:off x="868680" y="2743200"/>
            <a:ext cx="4754880" cy="1920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220,000 synthetic radio signals (DeepSig)</a:t>
            </a:r>
            <a:endParaRPr lang="en-US" sz="1600" dirty="0"/>
          </a:p>
          <a:p>
            <a:pPr marL="342900" indent="-342900">
              <a:spcAft>
                <a:spcPts val="800"/>
              </a:spcAft>
              <a:buSzPct val="100000"/>
              <a:buChar char="•"/>
            </a:pPr>
            <a:r>
              <a:rPr lang="en-US" sz="1600" dirty="0">
                <a:solidFill>
                  <a:schemeClr val="tx1"/>
                </a:solidFill>
              </a:rPr>
              <a:t>11 modulation types</a:t>
            </a:r>
            <a:endParaRPr lang="en-US" sz="1600" dirty="0"/>
          </a:p>
          <a:p>
            <a:pPr marL="342900" indent="-342900">
              <a:spcAft>
                <a:spcPts val="800"/>
              </a:spcAft>
              <a:buSzPct val="100000"/>
              <a:buChar char="•"/>
            </a:pPr>
            <a:r>
              <a:rPr lang="en-US" sz="1600" dirty="0">
                <a:solidFill>
                  <a:schemeClr val="tx1"/>
                </a:solidFill>
              </a:rPr>
              <a:t>SNR from −20 dB to +18 dB</a:t>
            </a:r>
            <a:endParaRPr lang="en-US" sz="1600" dirty="0"/>
          </a:p>
          <a:p>
            <a:pPr marL="342900" indent="-342900">
              <a:spcAft>
                <a:spcPts val="800"/>
              </a:spcAft>
              <a:buSzPct val="100000"/>
              <a:buChar char="•"/>
            </a:pPr>
            <a:r>
              <a:rPr lang="en-US" sz="1600" dirty="0">
                <a:solidFill>
                  <a:schemeClr val="tx1"/>
                </a:solidFill>
              </a:rPr>
              <a:t>Used to train a modulation classifier</a:t>
            </a:r>
            <a:endParaRPr lang="en-US" sz="1600" dirty="0"/>
          </a:p>
        </p:txBody>
      </p:sp>
      <p:sp>
        <p:nvSpPr>
          <p:cNvPr id="7" name="dataset card 1"/>
          <p:cNvSpPr/>
          <p:nvPr/>
        </p:nvSpPr>
        <p:spPr>
          <a:xfrm>
            <a:off x="6217920" y="1371600"/>
            <a:ext cx="5394960" cy="3383280"/>
          </a:xfrm>
          <a:prstGeom prst="roundRect">
            <a:avLst>
              <a:gd name="adj" fmla="val 3243"/>
            </a:avLst>
          </a:prstGeom>
          <a:solidFill>
            <a:schemeClr val="bg2"/>
          </a:solidFill>
          <a:ln w="12700">
            <a:solidFill>
              <a:schemeClr val="bg2"/>
            </a:solidFill>
            <a:prstDash val="solid"/>
          </a:ln>
        </p:spPr>
      </p:sp>
      <p:sp>
        <p:nvSpPr>
          <p:cNvPr id="8" name="dataset step 1"/>
          <p:cNvSpPr txBox="1"/>
          <p:nvPr/>
        </p:nvSpPr>
        <p:spPr>
          <a:xfrm>
            <a:off x="6537960" y="1600200"/>
            <a:ext cx="4754880" cy="365760"/>
          </a:xfrm>
          <a:prstGeom prst="rect">
            <a:avLst/>
          </a:prstGeom>
          <a:noFill/>
          <a:ln/>
        </p:spPr>
        <p:txBody>
          <a:bodyPr wrap="square" lIns="0" tIns="0" rIns="0" bIns="0" rtlCol="0" anchor="ctr"/>
          <a:lstStyle/>
          <a:p>
            <a:pPr indent="0" marL="0">
              <a:buNone/>
            </a:pPr>
            <a:r>
              <a:rPr lang="en-US" sz="1400" b="1" dirty="0">
                <a:solidFill>
                  <a:schemeClr val="accent2"/>
                </a:solidFill>
              </a:rPr>
              <a:t>2  ·  In the sky</a:t>
            </a:r>
            <a:endParaRPr lang="en-US" sz="1400" dirty="0"/>
          </a:p>
        </p:txBody>
      </p:sp>
      <p:sp>
        <p:nvSpPr>
          <p:cNvPr id="9" name="dataset name 1"/>
          <p:cNvSpPr txBox="1"/>
          <p:nvPr/>
        </p:nvSpPr>
        <p:spPr>
          <a:xfrm>
            <a:off x="6537960" y="2011680"/>
            <a:ext cx="4754880" cy="548640"/>
          </a:xfrm>
          <a:prstGeom prst="rect">
            <a:avLst/>
          </a:prstGeom>
          <a:noFill/>
          <a:ln/>
        </p:spPr>
        <p:txBody>
          <a:bodyPr wrap="square" lIns="0" tIns="0" rIns="0" bIns="0" rtlCol="0" anchor="ctr"/>
          <a:lstStyle/>
          <a:p>
            <a:pPr indent="0" marL="0">
              <a:buNone/>
            </a:pPr>
            <a:r>
              <a:rPr lang="en-US" sz="2400" b="1" dirty="0">
                <a:solidFill>
                  <a:schemeClr val="tx2"/>
                </a:solidFill>
                <a:latin typeface="Arial" pitchFamily="34" charset="0"/>
                <a:ea typeface="Arial" pitchFamily="34" charset="-122"/>
                <a:cs typeface="Arial" pitchFamily="34" charset="-120"/>
              </a:rPr>
              <a:t>SatNOGS: SONATE-2 CubeSat</a:t>
            </a:r>
            <a:endParaRPr lang="en-US" sz="2400" dirty="0"/>
          </a:p>
        </p:txBody>
      </p:sp>
      <p:sp>
        <p:nvSpPr>
          <p:cNvPr id="10" name="dataset items 1"/>
          <p:cNvSpPr txBox="1"/>
          <p:nvPr/>
        </p:nvSpPr>
        <p:spPr>
          <a:xfrm>
            <a:off x="6537960" y="2743200"/>
            <a:ext cx="4754880" cy="1920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Real recordings: 3 passes, 2 ground stations</a:t>
            </a:r>
            <a:endParaRPr lang="en-US" sz="1600" dirty="0"/>
          </a:p>
          <a:p>
            <a:pPr marL="342900" indent="-342900">
              <a:spcAft>
                <a:spcPts val="800"/>
              </a:spcAft>
              <a:buSzPct val="100000"/>
              <a:buChar char="•"/>
            </a:pPr>
            <a:r>
              <a:rPr lang="en-US" sz="1600" dirty="0">
                <a:solidFill>
                  <a:schemeClr val="tx1"/>
                </a:solidFill>
              </a:rPr>
              <a:t>9600-baud GMSK telemetry, 437.025 MHz</a:t>
            </a:r>
            <a:endParaRPr lang="en-US" sz="1600" dirty="0"/>
          </a:p>
          <a:p>
            <a:pPr marL="342900" indent="-342900">
              <a:spcAft>
                <a:spcPts val="800"/>
              </a:spcAft>
              <a:buSzPct val="100000"/>
              <a:buChar char="•"/>
            </a:pPr>
            <a:r>
              <a:rPr lang="en-US" sz="1600" dirty="0">
                <a:solidFill>
                  <a:schemeClr val="tx1"/>
                </a:solidFill>
              </a:rPr>
              <a:t>2,508 frames SatNOGS decoded, used as the answer key</a:t>
            </a:r>
            <a:endParaRPr lang="en-US" sz="1600" dirty="0"/>
          </a:p>
          <a:p>
            <a:pPr marL="342900" indent="-342900">
              <a:spcAft>
                <a:spcPts val="800"/>
              </a:spcAft>
              <a:buSzPct val="100000"/>
              <a:buChar char="•"/>
            </a:pPr>
            <a:r>
              <a:rPr lang="en-US" sz="1600" dirty="0">
                <a:solidFill>
                  <a:schemeClr val="tx1"/>
                </a:solidFill>
              </a:rPr>
              <a:t>Used to build and test the decoder</a:t>
            </a:r>
            <a:endParaRPr lang="en-US" sz="1600" dirty="0"/>
          </a:p>
        </p:txBody>
      </p:sp>
      <p:sp>
        <p:nvSpPr>
          <p:cNvPr id="11" name="bridge line"/>
          <p:cNvSpPr txBox="1"/>
          <p:nvPr/>
        </p:nvSpPr>
        <p:spPr>
          <a:xfrm>
            <a:off x="548640" y="5074920"/>
            <a:ext cx="11064240" cy="822960"/>
          </a:xfrm>
          <a:prstGeom prst="rect">
            <a:avLst/>
          </a:prstGeom>
          <a:noFill/>
          <a:ln/>
        </p:spPr>
        <p:txBody>
          <a:bodyPr wrap="square" lIns="0" tIns="0" rIns="0" bIns="0" rtlCol="0" anchor="t"/>
          <a:lstStyle/>
          <a:p>
            <a:pPr indent="0" marL="0">
              <a:buNone/>
            </a:pPr>
            <a:r>
              <a:rPr lang="en-US" sz="1800" b="1" dirty="0">
                <a:solidFill>
                  <a:schemeClr val="tx2"/>
                </a:solidFill>
              </a:rPr>
              <a:t>RadioML teaches us what signals look like. SONATE-2 tests whether we can actually decode one, with an answer key to check against.</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RadioML: a CNN recognises 11 modulations</a:t>
            </a:r>
            <a:endParaRPr lang="en-US" sz="3200" dirty="0"/>
          </a:p>
        </p:txBody>
      </p:sp>
      <p:pic>
        <p:nvPicPr>
          <p:cNvPr id="3" name="radioml accuracy plot" descr="C:/Users/katie/seds-hack/results/radioml_accuracy.png">    </p:cNvPr>
          <p:cNvPicPr>
            <a:picLocks noChangeAspect="1"/>
          </p:cNvPicPr>
          <p:nvPr/>
        </p:nvPicPr>
        <p:blipFill>
          <a:blip r:embed="rId1"/>
          <a:stretch>
            <a:fillRect/>
          </a:stretch>
        </p:blipFill>
        <p:spPr>
          <a:xfrm>
            <a:off x="548640" y="1325880"/>
            <a:ext cx="8595360" cy="3376749"/>
          </a:xfrm>
          <a:prstGeom prst="rect">
            <a:avLst/>
          </a:prstGeom>
        </p:spPr>
      </p:pic>
      <p:sp>
        <p:nvSpPr>
          <p:cNvPr id="4" name="stat 84 card"/>
          <p:cNvSpPr/>
          <p:nvPr/>
        </p:nvSpPr>
        <p:spPr>
          <a:xfrm>
            <a:off x="9464040" y="1325880"/>
            <a:ext cx="2148840" cy="1417320"/>
          </a:xfrm>
          <a:prstGeom prst="roundRect">
            <a:avLst>
              <a:gd name="adj" fmla="val 7742"/>
            </a:avLst>
          </a:prstGeom>
          <a:solidFill>
            <a:schemeClr val="bg2"/>
          </a:solidFill>
          <a:ln w="12700">
            <a:solidFill>
              <a:schemeClr val="bg2"/>
            </a:solidFill>
            <a:prstDash val="solid"/>
          </a:ln>
        </p:spPr>
      </p:sp>
      <p:sp>
        <p:nvSpPr>
          <p:cNvPr id="5" name="stat 84 value"/>
          <p:cNvSpPr txBox="1"/>
          <p:nvPr/>
        </p:nvSpPr>
        <p:spPr>
          <a:xfrm>
            <a:off x="9692640" y="1463040"/>
            <a:ext cx="169164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84%</a:t>
            </a:r>
            <a:endParaRPr lang="en-US" sz="4000" dirty="0"/>
          </a:p>
        </p:txBody>
      </p:sp>
      <p:sp>
        <p:nvSpPr>
          <p:cNvPr id="6" name="stat 84 label"/>
          <p:cNvSpPr txBox="1"/>
          <p:nvPr/>
        </p:nvSpPr>
        <p:spPr>
          <a:xfrm>
            <a:off x="9692640" y="2194560"/>
            <a:ext cx="1691640" cy="457200"/>
          </a:xfrm>
          <a:prstGeom prst="rect">
            <a:avLst/>
          </a:prstGeom>
          <a:noFill/>
          <a:ln/>
        </p:spPr>
        <p:txBody>
          <a:bodyPr wrap="square" lIns="0" tIns="0" rIns="0" bIns="0" rtlCol="0" anchor="t"/>
          <a:lstStyle/>
          <a:p>
            <a:pPr indent="0" marL="0">
              <a:buNone/>
            </a:pPr>
            <a:r>
              <a:rPr lang="en-US" sz="1400" dirty="0">
                <a:solidFill>
                  <a:schemeClr val="tx1"/>
                </a:solidFill>
              </a:rPr>
              <a:t>accuracy at SNR ≥ 0 dB</a:t>
            </a:r>
            <a:endParaRPr lang="en-US" sz="1400" dirty="0"/>
          </a:p>
        </p:txBody>
      </p:sp>
      <p:sp>
        <p:nvSpPr>
          <p:cNvPr id="7" name="stat 57 card"/>
          <p:cNvSpPr/>
          <p:nvPr/>
        </p:nvSpPr>
        <p:spPr>
          <a:xfrm>
            <a:off x="9464040" y="2926080"/>
            <a:ext cx="2148840" cy="1417320"/>
          </a:xfrm>
          <a:prstGeom prst="roundRect">
            <a:avLst>
              <a:gd name="adj" fmla="val 7742"/>
            </a:avLst>
          </a:prstGeom>
          <a:solidFill>
            <a:schemeClr val="bg2"/>
          </a:solidFill>
          <a:ln w="12700">
            <a:solidFill>
              <a:schemeClr val="bg2"/>
            </a:solidFill>
            <a:prstDash val="solid"/>
          </a:ln>
        </p:spPr>
      </p:sp>
      <p:sp>
        <p:nvSpPr>
          <p:cNvPr id="8" name="stat 57 value"/>
          <p:cNvSpPr txBox="1"/>
          <p:nvPr/>
        </p:nvSpPr>
        <p:spPr>
          <a:xfrm>
            <a:off x="9692640" y="3063240"/>
            <a:ext cx="169164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57%</a:t>
            </a:r>
            <a:endParaRPr lang="en-US" sz="4000" dirty="0"/>
          </a:p>
        </p:txBody>
      </p:sp>
      <p:sp>
        <p:nvSpPr>
          <p:cNvPr id="9" name="stat 57 label"/>
          <p:cNvSpPr txBox="1"/>
          <p:nvPr/>
        </p:nvSpPr>
        <p:spPr>
          <a:xfrm>
            <a:off x="9692640" y="3794760"/>
            <a:ext cx="1691640" cy="457200"/>
          </a:xfrm>
          <a:prstGeom prst="rect">
            <a:avLst/>
          </a:prstGeom>
          <a:noFill/>
          <a:ln/>
        </p:spPr>
        <p:txBody>
          <a:bodyPr wrap="square" lIns="0" tIns="0" rIns="0" bIns="0" rtlCol="0" anchor="t"/>
          <a:lstStyle/>
          <a:p>
            <a:pPr indent="0" marL="0">
              <a:buNone/>
            </a:pPr>
            <a:r>
              <a:rPr lang="en-US" sz="1400" dirty="0">
                <a:solidFill>
                  <a:schemeClr val="tx1"/>
                </a:solidFill>
              </a:rPr>
              <a:t>overall, −20 to +18 dB</a:t>
            </a:r>
            <a:endParaRPr lang="en-US" sz="1400" dirty="0"/>
          </a:p>
        </p:txBody>
      </p:sp>
      <p:sp>
        <p:nvSpPr>
          <p:cNvPr id="10" name="radioml notes"/>
          <p:cNvSpPr txBox="1"/>
          <p:nvPr/>
        </p:nvSpPr>
        <p:spPr>
          <a:xfrm>
            <a:off x="548640" y="4846320"/>
            <a:ext cx="11064240" cy="1371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4-layer 1-D CNN on raw 2×128 I/Q samples, 50/50 train/test split</a:t>
            </a:r>
            <a:endParaRPr lang="en-US" sz="1500" dirty="0"/>
          </a:p>
          <a:p>
            <a:pPr marL="342900" indent="-342900">
              <a:spcAft>
                <a:spcPts val="800"/>
              </a:spcAft>
              <a:buSzPct val="100000"/>
              <a:buChar char="•"/>
            </a:pPr>
            <a:r>
              <a:rPr lang="en-US" sz="1500" dirty="0">
                <a:solidFill>
                  <a:schemeClr val="tx1"/>
                </a:solidFill>
              </a:rPr>
              <a:t>Matches published baselines; below −10 dB everything blurs into noise, which is where deep-space signals live</a:t>
            </a:r>
            <a:endParaRPr lang="en-US" sz="1500" dirty="0"/>
          </a:p>
          <a:p>
            <a:pPr marL="342900" indent="-342900">
              <a:spcAft>
                <a:spcPts val="800"/>
              </a:spcAft>
              <a:buSzPct val="100000"/>
              <a:buChar char="•"/>
            </a:pPr>
            <a:r>
              <a:rPr lang="en-US" sz="1500" dirty="0">
                <a:solidFill>
                  <a:schemeClr val="tx1"/>
                </a:solidFill>
              </a:rPr>
              <a:t>Known dataset quirks show up: QAM16 vs QAM64, WBFM vs AM-DSB</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Does it transfer to a real satellite? Promising, not proven</a:t>
            </a:r>
            <a:endParaRPr lang="en-US" sz="3200" dirty="0"/>
          </a:p>
        </p:txBody>
      </p:sp>
      <p:pic>
        <p:nvPicPr>
          <p:cNvPr id="3" name="transfer plot" descr="C:/Users/katie/seds-hack/results/radioml_transfer.png">    </p:cNvPr>
          <p:cNvPicPr>
            <a:picLocks noChangeAspect="1"/>
          </p:cNvPicPr>
          <p:nvPr/>
        </p:nvPicPr>
        <p:blipFill>
          <a:blip r:embed="rId1"/>
          <a:stretch>
            <a:fillRect/>
          </a:stretch>
        </p:blipFill>
        <p:spPr>
          <a:xfrm>
            <a:off x="548640" y="1325880"/>
            <a:ext cx="7589520" cy="3104804"/>
          </a:xfrm>
          <a:prstGeom prst="rect">
            <a:avLst/>
          </a:prstGeom>
        </p:spPr>
      </p:pic>
      <p:sp>
        <p:nvSpPr>
          <p:cNvPr id="4" name="transfer notes"/>
          <p:cNvSpPr txBox="1"/>
          <p:nvPr/>
        </p:nvSpPr>
        <p:spPr>
          <a:xfrm>
            <a:off x="8412480" y="1371600"/>
            <a:ext cx="3200400" cy="329184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accent1"/>
                </a:solidFill>
              </a:rPr>
              <a:t>88–95%</a:t>
            </a:r>
            <a:pPr indent="0" marL="0">
              <a:spcAft>
                <a:spcPts val="800"/>
              </a:spcAft>
              <a:buNone/>
            </a:pPr>
            <a:r>
              <a:rPr lang="en-US" sz="1500" dirty="0">
                <a:solidFill>
                  <a:schemeClr val="tx1"/>
                </a:solidFill>
              </a:rPr>
              <a:t> of real SONATE-2 windows classified FSK-family (correct: GMSK)</a:t>
            </a:r>
            <a:endParaRPr lang="en-US" sz="1500" dirty="0"/>
          </a:p>
          <a:p>
            <a:pPr marL="342900" indent="-342900">
              <a:spcAft>
                <a:spcPts val="800"/>
              </a:spcAft>
              <a:buSzPct val="100000"/>
              <a:buChar char="•"/>
            </a:pPr>
            <a:r>
              <a:rPr lang="en-US" sz="1500" b="1" dirty="0">
                <a:solidFill>
                  <a:schemeClr val="accent2"/>
                </a:solidFill>
              </a:rPr>
              <a:t>Caveat: </a:t>
            </a:r>
            <a:pPr indent="0" marL="0">
              <a:spcAft>
                <a:spcPts val="800"/>
              </a:spcAft>
              <a:buNone/>
            </a:pPr>
            <a:r>
              <a:rPr lang="en-US" sz="1500" dirty="0">
                <a:solidFill>
                  <a:schemeClr val="tx1"/>
                </a:solidFill>
              </a:rPr>
              <a:t>noise also looks FSK-like after rebuilding I/Q from audio</a:t>
            </a:r>
            <a:endParaRPr lang="en-US" sz="1500" dirty="0"/>
          </a:p>
          <a:p>
            <a:pPr marL="342900" indent="-342900">
              <a:spcAft>
                <a:spcPts val="800"/>
              </a:spcAft>
              <a:buSzPct val="100000"/>
              <a:buChar char="•"/>
            </a:pPr>
            <a:r>
              <a:rPr lang="en-US" sz="1500" dirty="0">
                <a:solidFill>
                  <a:schemeClr val="tx1"/>
                </a:solidFill>
              </a:rPr>
              <a:t>The model does separate signal (CPFSK) from noise (GFSK)</a:t>
            </a:r>
            <a:endParaRPr lang="en-US" sz="1500" dirty="0"/>
          </a:p>
        </p:txBody>
      </p:sp>
      <p:sp>
        <p:nvSpPr>
          <p:cNvPr id="5" name="takeaway card"/>
          <p:cNvSpPr/>
          <p:nvPr/>
        </p:nvSpPr>
        <p:spPr>
          <a:xfrm>
            <a:off x="548640" y="4663440"/>
            <a:ext cx="11064240" cy="1188720"/>
          </a:xfrm>
          <a:prstGeom prst="roundRect">
            <a:avLst>
              <a:gd name="adj" fmla="val 9231"/>
            </a:avLst>
          </a:prstGeom>
          <a:solidFill>
            <a:schemeClr val="bg2"/>
          </a:solidFill>
          <a:ln w="12700">
            <a:solidFill>
              <a:schemeClr val="bg2"/>
            </a:solidFill>
            <a:prstDash val="solid"/>
          </a:ln>
        </p:spPr>
      </p:sp>
      <p:sp>
        <p:nvSpPr>
          <p:cNvPr id="6" name="takeaway"/>
          <p:cNvSpPr txBox="1"/>
          <p:nvPr/>
        </p:nvSpPr>
        <p:spPr>
          <a:xfrm>
            <a:off x="822960" y="4754880"/>
            <a:ext cx="10515600" cy="1005840"/>
          </a:xfrm>
          <a:prstGeom prst="rect">
            <a:avLst/>
          </a:prstGeom>
          <a:noFill/>
          <a:ln/>
        </p:spPr>
        <p:txBody>
          <a:bodyPr wrap="square" lIns="0" tIns="0" rIns="0" bIns="0" rtlCol="0" anchor="ctr"/>
          <a:lstStyle/>
          <a:p>
            <a:pPr indent="0" marL="0">
              <a:buNone/>
            </a:pPr>
            <a:r>
              <a:rPr lang="en-US" sz="2000" b="1" dirty="0">
                <a:solidFill>
                  <a:schemeClr val="tx2"/>
                </a:solidFill>
              </a:rPr>
              <a:t>Takeaway: recognising a signal isn't enough. To get telemetry we have to decode it, so we built a decoder.</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A zero-tuning decoder for real SONATE-2 recordings</a:t>
            </a:r>
            <a:endParaRPr lang="en-US" sz="3200" dirty="0"/>
          </a:p>
        </p:txBody>
      </p:sp>
      <p:sp>
        <p:nvSpPr>
          <p:cNvPr id="3" name="step box Clean"/>
          <p:cNvSpPr/>
          <p:nvPr/>
        </p:nvSpPr>
        <p:spPr>
          <a:xfrm>
            <a:off x="548640" y="1554480"/>
            <a:ext cx="1691640" cy="2651760"/>
          </a:xfrm>
          <a:prstGeom prst="roundRect">
            <a:avLst>
              <a:gd name="adj" fmla="val 6486"/>
            </a:avLst>
          </a:prstGeom>
          <a:solidFill>
            <a:schemeClr val="bg2"/>
          </a:solidFill>
          <a:ln w="12700">
            <a:solidFill>
              <a:schemeClr val="bg2"/>
            </a:solidFill>
            <a:prstDash val="solid"/>
          </a:ln>
        </p:spPr>
      </p:sp>
      <p:sp>
        <p:nvSpPr>
          <p:cNvPr id="4" name="step number circle 0"/>
          <p:cNvSpPr/>
          <p:nvPr/>
        </p:nvSpPr>
        <p:spPr>
          <a:xfrm>
            <a:off x="731520" y="1737360"/>
            <a:ext cx="502920" cy="502920"/>
          </a:xfrm>
          <a:prstGeom prst="ellipse">
            <a:avLst/>
          </a:prstGeom>
          <a:solidFill>
            <a:schemeClr val="accent1"/>
          </a:solidFill>
          <a:ln w="12700">
            <a:solidFill>
              <a:schemeClr val="accent1"/>
            </a:solidFill>
            <a:prstDash val="solid"/>
          </a:ln>
        </p:spPr>
      </p:sp>
      <p:sp>
        <p:nvSpPr>
          <p:cNvPr id="5" name="step number 0"/>
          <p:cNvSpPr txBox="1"/>
          <p:nvPr/>
        </p:nvSpPr>
        <p:spPr>
          <a:xfrm>
            <a:off x="731520"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step title Clean"/>
          <p:cNvSpPr txBox="1"/>
          <p:nvPr/>
        </p:nvSpPr>
        <p:spPr>
          <a:xfrm>
            <a:off x="731520" y="2377440"/>
            <a:ext cx="1325880" cy="457200"/>
          </a:xfrm>
          <a:prstGeom prst="rect">
            <a:avLst/>
          </a:prstGeom>
          <a:noFill/>
          <a:ln/>
        </p:spPr>
        <p:txBody>
          <a:bodyPr wrap="square" lIns="0" tIns="0" rIns="0" bIns="0" rtlCol="0" anchor="ctr"/>
          <a:lstStyle/>
          <a:p>
            <a:pPr indent="0" marL="0">
              <a:buNone/>
            </a:pPr>
            <a:r>
              <a:rPr lang="en-US" sz="1800" b="1" dirty="0">
                <a:solidFill>
                  <a:schemeClr val="tx2"/>
                </a:solidFill>
              </a:rPr>
              <a:t>Clean</a:t>
            </a:r>
            <a:endParaRPr lang="en-US" sz="1800" dirty="0"/>
          </a:p>
        </p:txBody>
      </p:sp>
      <p:sp>
        <p:nvSpPr>
          <p:cNvPr id="7" name="step text Clean"/>
          <p:cNvSpPr txBox="1"/>
          <p:nvPr/>
        </p:nvSpPr>
        <p:spPr>
          <a:xfrm>
            <a:off x="731520" y="2834640"/>
            <a:ext cx="1325880" cy="1280160"/>
          </a:xfrm>
          <a:prstGeom prst="rect">
            <a:avLst/>
          </a:prstGeom>
          <a:noFill/>
          <a:ln/>
        </p:spPr>
        <p:txBody>
          <a:bodyPr wrap="square" lIns="0" tIns="0" rIns="0" bIns="0" rtlCol="0" anchor="t"/>
          <a:lstStyle/>
          <a:p>
            <a:pPr indent="0" marL="0">
              <a:buNone/>
            </a:pPr>
            <a:r>
              <a:rPr lang="en-US" sz="1400" dirty="0">
                <a:solidFill>
                  <a:schemeClr val="tx1"/>
                </a:solidFill>
              </a:rPr>
              <a:t>Remove Doppler drift with a 0.2 s moving average</a:t>
            </a:r>
            <a:endParaRPr lang="en-US" sz="1400" dirty="0"/>
          </a:p>
        </p:txBody>
      </p:sp>
      <p:sp>
        <p:nvSpPr>
          <p:cNvPr id="8" name="step box Find timing"/>
          <p:cNvSpPr/>
          <p:nvPr/>
        </p:nvSpPr>
        <p:spPr>
          <a:xfrm>
            <a:off x="2423160" y="1554480"/>
            <a:ext cx="1691640" cy="2651760"/>
          </a:xfrm>
          <a:prstGeom prst="roundRect">
            <a:avLst>
              <a:gd name="adj" fmla="val 6486"/>
            </a:avLst>
          </a:prstGeom>
          <a:solidFill>
            <a:schemeClr val="bg2"/>
          </a:solidFill>
          <a:ln w="12700">
            <a:solidFill>
              <a:schemeClr val="bg2"/>
            </a:solidFill>
            <a:prstDash val="solid"/>
          </a:ln>
        </p:spPr>
      </p:sp>
      <p:sp>
        <p:nvSpPr>
          <p:cNvPr id="9" name="step number circle 1"/>
          <p:cNvSpPr/>
          <p:nvPr/>
        </p:nvSpPr>
        <p:spPr>
          <a:xfrm>
            <a:off x="2606040" y="1737360"/>
            <a:ext cx="502920" cy="502920"/>
          </a:xfrm>
          <a:prstGeom prst="ellipse">
            <a:avLst/>
          </a:prstGeom>
          <a:solidFill>
            <a:schemeClr val="accent1"/>
          </a:solidFill>
          <a:ln w="12700">
            <a:solidFill>
              <a:schemeClr val="accent1"/>
            </a:solidFill>
            <a:prstDash val="solid"/>
          </a:ln>
        </p:spPr>
      </p:sp>
      <p:sp>
        <p:nvSpPr>
          <p:cNvPr id="10" name="step number 1"/>
          <p:cNvSpPr txBox="1"/>
          <p:nvPr/>
        </p:nvSpPr>
        <p:spPr>
          <a:xfrm>
            <a:off x="2606040"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step title Find timing"/>
          <p:cNvSpPr txBox="1"/>
          <p:nvPr/>
        </p:nvSpPr>
        <p:spPr>
          <a:xfrm>
            <a:off x="2606040" y="2377440"/>
            <a:ext cx="1325880" cy="457200"/>
          </a:xfrm>
          <a:prstGeom prst="rect">
            <a:avLst/>
          </a:prstGeom>
          <a:noFill/>
          <a:ln/>
        </p:spPr>
        <p:txBody>
          <a:bodyPr wrap="square" lIns="0" tIns="0" rIns="0" bIns="0" rtlCol="0" anchor="ctr"/>
          <a:lstStyle/>
          <a:p>
            <a:pPr indent="0" marL="0">
              <a:buNone/>
            </a:pPr>
            <a:r>
              <a:rPr lang="en-US" sz="1800" b="1" dirty="0">
                <a:solidFill>
                  <a:schemeClr val="tx2"/>
                </a:solidFill>
              </a:rPr>
              <a:t>Find timing</a:t>
            </a:r>
            <a:endParaRPr lang="en-US" sz="1800" dirty="0"/>
          </a:p>
        </p:txBody>
      </p:sp>
      <p:sp>
        <p:nvSpPr>
          <p:cNvPr id="12" name="step text Find timing"/>
          <p:cNvSpPr txBox="1"/>
          <p:nvPr/>
        </p:nvSpPr>
        <p:spPr>
          <a:xfrm>
            <a:off x="2606040" y="2834640"/>
            <a:ext cx="1325880" cy="1280160"/>
          </a:xfrm>
          <a:prstGeom prst="rect">
            <a:avLst/>
          </a:prstGeom>
          <a:noFill/>
          <a:ln/>
        </p:spPr>
        <p:txBody>
          <a:bodyPr wrap="square" lIns="0" tIns="0" rIns="0" bIns="0" rtlCol="0" anchor="t"/>
          <a:lstStyle/>
          <a:p>
            <a:pPr indent="0" marL="0">
              <a:buNone/>
            </a:pPr>
            <a:r>
              <a:rPr lang="en-US" sz="1400" dirty="0">
                <a:solidFill>
                  <a:schemeClr val="tx1"/>
                </a:solidFill>
              </a:rPr>
              <a:t>Try 10 timing offsets per bit, keep what decodes</a:t>
            </a:r>
            <a:endParaRPr lang="en-US" sz="1400" dirty="0"/>
          </a:p>
        </p:txBody>
      </p:sp>
      <p:sp>
        <p:nvSpPr>
          <p:cNvPr id="13" name="step box Unscramble"/>
          <p:cNvSpPr/>
          <p:nvPr/>
        </p:nvSpPr>
        <p:spPr>
          <a:xfrm>
            <a:off x="4297680" y="1554480"/>
            <a:ext cx="1691640" cy="2651760"/>
          </a:xfrm>
          <a:prstGeom prst="roundRect">
            <a:avLst>
              <a:gd name="adj" fmla="val 6486"/>
            </a:avLst>
          </a:prstGeom>
          <a:solidFill>
            <a:schemeClr val="bg2"/>
          </a:solidFill>
          <a:ln w="12700">
            <a:solidFill>
              <a:schemeClr val="bg2"/>
            </a:solidFill>
            <a:prstDash val="solid"/>
          </a:ln>
        </p:spPr>
      </p:sp>
      <p:sp>
        <p:nvSpPr>
          <p:cNvPr id="14" name="step number circle 2"/>
          <p:cNvSpPr/>
          <p:nvPr/>
        </p:nvSpPr>
        <p:spPr>
          <a:xfrm>
            <a:off x="4480560" y="1737360"/>
            <a:ext cx="502920" cy="502920"/>
          </a:xfrm>
          <a:prstGeom prst="ellipse">
            <a:avLst/>
          </a:prstGeom>
          <a:solidFill>
            <a:schemeClr val="accent1"/>
          </a:solidFill>
          <a:ln w="12700">
            <a:solidFill>
              <a:schemeClr val="accent1"/>
            </a:solidFill>
            <a:prstDash val="solid"/>
          </a:ln>
        </p:spPr>
      </p:sp>
      <p:sp>
        <p:nvSpPr>
          <p:cNvPr id="15" name="step number 2"/>
          <p:cNvSpPr txBox="1"/>
          <p:nvPr/>
        </p:nvSpPr>
        <p:spPr>
          <a:xfrm>
            <a:off x="4480560"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step title Unscramble"/>
          <p:cNvSpPr txBox="1"/>
          <p:nvPr/>
        </p:nvSpPr>
        <p:spPr>
          <a:xfrm>
            <a:off x="4480560" y="2377440"/>
            <a:ext cx="1325880" cy="457200"/>
          </a:xfrm>
          <a:prstGeom prst="rect">
            <a:avLst/>
          </a:prstGeom>
          <a:noFill/>
          <a:ln/>
        </p:spPr>
        <p:txBody>
          <a:bodyPr wrap="square" lIns="0" tIns="0" rIns="0" bIns="0" rtlCol="0" anchor="ctr"/>
          <a:lstStyle/>
          <a:p>
            <a:pPr indent="0" marL="0">
              <a:buNone/>
            </a:pPr>
            <a:r>
              <a:rPr lang="en-US" sz="1800" b="1" dirty="0">
                <a:solidFill>
                  <a:schemeClr val="tx2"/>
                </a:solidFill>
              </a:rPr>
              <a:t>Unscramble</a:t>
            </a:r>
            <a:endParaRPr lang="en-US" sz="1800" dirty="0"/>
          </a:p>
        </p:txBody>
      </p:sp>
      <p:sp>
        <p:nvSpPr>
          <p:cNvPr id="17" name="step text Unscramble"/>
          <p:cNvSpPr txBox="1"/>
          <p:nvPr/>
        </p:nvSpPr>
        <p:spPr>
          <a:xfrm>
            <a:off x="4480560" y="2834640"/>
            <a:ext cx="1325880" cy="1280160"/>
          </a:xfrm>
          <a:prstGeom prst="rect">
            <a:avLst/>
          </a:prstGeom>
          <a:noFill/>
          <a:ln/>
        </p:spPr>
        <p:txBody>
          <a:bodyPr wrap="square" lIns="0" tIns="0" rIns="0" bIns="0" rtlCol="0" anchor="t"/>
          <a:lstStyle/>
          <a:p>
            <a:pPr indent="0" marL="0">
              <a:buNone/>
            </a:pPr>
            <a:r>
              <a:rPr lang="en-US" sz="1400" dirty="0">
                <a:solidFill>
                  <a:schemeClr val="tx1"/>
                </a:solidFill>
              </a:rPr>
              <a:t>G3RUH descramble + NRZI; polarity doesn't matter</a:t>
            </a:r>
            <a:endParaRPr lang="en-US" sz="1400" dirty="0"/>
          </a:p>
        </p:txBody>
      </p:sp>
      <p:sp>
        <p:nvSpPr>
          <p:cNvPr id="18" name="step box Find packets"/>
          <p:cNvSpPr/>
          <p:nvPr/>
        </p:nvSpPr>
        <p:spPr>
          <a:xfrm>
            <a:off x="6172200" y="1554480"/>
            <a:ext cx="1691640" cy="2651760"/>
          </a:xfrm>
          <a:prstGeom prst="roundRect">
            <a:avLst>
              <a:gd name="adj" fmla="val 6486"/>
            </a:avLst>
          </a:prstGeom>
          <a:solidFill>
            <a:schemeClr val="bg2"/>
          </a:solidFill>
          <a:ln w="12700">
            <a:solidFill>
              <a:schemeClr val="bg2"/>
            </a:solidFill>
            <a:prstDash val="solid"/>
          </a:ln>
        </p:spPr>
      </p:sp>
      <p:sp>
        <p:nvSpPr>
          <p:cNvPr id="19" name="step number circle 3"/>
          <p:cNvSpPr/>
          <p:nvPr/>
        </p:nvSpPr>
        <p:spPr>
          <a:xfrm>
            <a:off x="6355080" y="1737360"/>
            <a:ext cx="502920" cy="502920"/>
          </a:xfrm>
          <a:prstGeom prst="ellipse">
            <a:avLst/>
          </a:prstGeom>
          <a:solidFill>
            <a:schemeClr val="accent1"/>
          </a:solidFill>
          <a:ln w="12700">
            <a:solidFill>
              <a:schemeClr val="accent1"/>
            </a:solidFill>
            <a:prstDash val="solid"/>
          </a:ln>
        </p:spPr>
      </p:sp>
      <p:sp>
        <p:nvSpPr>
          <p:cNvPr id="20" name="step number 3"/>
          <p:cNvSpPr txBox="1"/>
          <p:nvPr/>
        </p:nvSpPr>
        <p:spPr>
          <a:xfrm>
            <a:off x="6355080"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step title Find packets"/>
          <p:cNvSpPr txBox="1"/>
          <p:nvPr/>
        </p:nvSpPr>
        <p:spPr>
          <a:xfrm>
            <a:off x="6355080" y="2377440"/>
            <a:ext cx="1325880" cy="457200"/>
          </a:xfrm>
          <a:prstGeom prst="rect">
            <a:avLst/>
          </a:prstGeom>
          <a:noFill/>
          <a:ln/>
        </p:spPr>
        <p:txBody>
          <a:bodyPr wrap="square" lIns="0" tIns="0" rIns="0" bIns="0" rtlCol="0" anchor="ctr"/>
          <a:lstStyle/>
          <a:p>
            <a:pPr indent="0" marL="0">
              <a:buNone/>
            </a:pPr>
            <a:r>
              <a:rPr lang="en-US" sz="1800" b="1" dirty="0">
                <a:solidFill>
                  <a:schemeClr val="tx2"/>
                </a:solidFill>
              </a:rPr>
              <a:t>Find packets</a:t>
            </a:r>
            <a:endParaRPr lang="en-US" sz="1800" dirty="0"/>
          </a:p>
        </p:txBody>
      </p:sp>
      <p:sp>
        <p:nvSpPr>
          <p:cNvPr id="22" name="step text Find packets"/>
          <p:cNvSpPr txBox="1"/>
          <p:nvPr/>
        </p:nvSpPr>
        <p:spPr>
          <a:xfrm>
            <a:off x="6355080" y="2834640"/>
            <a:ext cx="1325880" cy="1280160"/>
          </a:xfrm>
          <a:prstGeom prst="rect">
            <a:avLst/>
          </a:prstGeom>
          <a:noFill/>
          <a:ln/>
        </p:spPr>
        <p:txBody>
          <a:bodyPr wrap="square" lIns="0" tIns="0" rIns="0" bIns="0" rtlCol="0" anchor="t"/>
          <a:lstStyle/>
          <a:p>
            <a:pPr indent="0" marL="0">
              <a:buNone/>
            </a:pPr>
            <a:r>
              <a:rPr lang="en-US" sz="1400" dirty="0">
                <a:solidFill>
                  <a:schemeClr val="tx1"/>
                </a:solidFill>
              </a:rPr>
              <a:t>Flags, bit unstuffing, CRC-16 checksum</a:t>
            </a:r>
            <a:endParaRPr lang="en-US" sz="1400" dirty="0"/>
          </a:p>
        </p:txBody>
      </p:sp>
      <p:sp>
        <p:nvSpPr>
          <p:cNvPr id="23" name="step box Repair"/>
          <p:cNvSpPr/>
          <p:nvPr/>
        </p:nvSpPr>
        <p:spPr>
          <a:xfrm>
            <a:off x="8046720" y="1554480"/>
            <a:ext cx="1691640" cy="2651760"/>
          </a:xfrm>
          <a:prstGeom prst="roundRect">
            <a:avLst>
              <a:gd name="adj" fmla="val 6486"/>
            </a:avLst>
          </a:prstGeom>
          <a:solidFill>
            <a:schemeClr val="accent2"/>
          </a:solidFill>
          <a:ln w="12700">
            <a:solidFill>
              <a:schemeClr val="accent2"/>
            </a:solidFill>
            <a:prstDash val="solid"/>
          </a:ln>
        </p:spPr>
      </p:sp>
      <p:sp>
        <p:nvSpPr>
          <p:cNvPr id="24" name="step number circle 4"/>
          <p:cNvSpPr/>
          <p:nvPr/>
        </p:nvSpPr>
        <p:spPr>
          <a:xfrm>
            <a:off x="8229600" y="1737360"/>
            <a:ext cx="502920" cy="502920"/>
          </a:xfrm>
          <a:prstGeom prst="ellipse">
            <a:avLst/>
          </a:prstGeom>
          <a:solidFill>
            <a:schemeClr val="bg1"/>
          </a:solidFill>
          <a:ln w="12700">
            <a:solidFill>
              <a:schemeClr val="bg1"/>
            </a:solidFill>
            <a:prstDash val="solid"/>
          </a:ln>
        </p:spPr>
      </p:sp>
      <p:sp>
        <p:nvSpPr>
          <p:cNvPr id="25" name="step number 4"/>
          <p:cNvSpPr txBox="1"/>
          <p:nvPr/>
        </p:nvSpPr>
        <p:spPr>
          <a:xfrm>
            <a:off x="8229600" y="1737360"/>
            <a:ext cx="502920" cy="502920"/>
          </a:xfrm>
          <a:prstGeom prst="rect">
            <a:avLst/>
          </a:prstGeom>
          <a:noFill/>
          <a:ln/>
        </p:spPr>
        <p:txBody>
          <a:bodyPr wrap="square" lIns="0" tIns="0" rIns="0" bIns="0" rtlCol="0" anchor="ctr"/>
          <a:lstStyle/>
          <a:p>
            <a:pPr algn="ctr" indent="0" marL="0">
              <a:buNone/>
            </a:pPr>
            <a:r>
              <a:rPr lang="en-US" sz="1800" b="1" dirty="0">
                <a:solidFill>
                  <a:schemeClr val="accent2"/>
                </a:solidFill>
              </a:rPr>
              <a:t>5</a:t>
            </a:r>
            <a:endParaRPr lang="en-US" sz="1800" dirty="0"/>
          </a:p>
        </p:txBody>
      </p:sp>
      <p:sp>
        <p:nvSpPr>
          <p:cNvPr id="26" name="step title Repair"/>
          <p:cNvSpPr txBox="1"/>
          <p:nvPr/>
        </p:nvSpPr>
        <p:spPr>
          <a:xfrm>
            <a:off x="8229600" y="2377440"/>
            <a:ext cx="1325880" cy="457200"/>
          </a:xfrm>
          <a:prstGeom prst="rect">
            <a:avLst/>
          </a:prstGeom>
          <a:noFill/>
          <a:ln/>
        </p:spPr>
        <p:txBody>
          <a:bodyPr wrap="square" lIns="0" tIns="0" rIns="0" bIns="0" rtlCol="0" anchor="ctr"/>
          <a:lstStyle/>
          <a:p>
            <a:pPr indent="0" marL="0">
              <a:buNone/>
            </a:pPr>
            <a:r>
              <a:rPr lang="en-US" sz="1800" b="1" dirty="0">
                <a:solidFill>
                  <a:schemeClr val="bg1"/>
                </a:solidFill>
              </a:rPr>
              <a:t>Repair</a:t>
            </a:r>
            <a:endParaRPr lang="en-US" sz="1800" dirty="0"/>
          </a:p>
        </p:txBody>
      </p:sp>
      <p:sp>
        <p:nvSpPr>
          <p:cNvPr id="27" name="step text Repair"/>
          <p:cNvSpPr txBox="1"/>
          <p:nvPr/>
        </p:nvSpPr>
        <p:spPr>
          <a:xfrm>
            <a:off x="8229600" y="2834640"/>
            <a:ext cx="1325880" cy="1280160"/>
          </a:xfrm>
          <a:prstGeom prst="rect">
            <a:avLst/>
          </a:prstGeom>
          <a:noFill/>
          <a:ln/>
        </p:spPr>
        <p:txBody>
          <a:bodyPr wrap="square" lIns="0" tIns="0" rIns="0" bIns="0" rtlCol="0" anchor="t"/>
          <a:lstStyle/>
          <a:p>
            <a:pPr indent="0" marL="0">
              <a:buNone/>
            </a:pPr>
            <a:r>
              <a:rPr lang="en-US" sz="1400" dirty="0">
                <a:solidFill>
                  <a:schemeClr val="bg1"/>
                </a:solidFill>
              </a:rPr>
              <a:t>If the CRC fails, flip the least-confident bits</a:t>
            </a:r>
            <a:endParaRPr lang="en-US" sz="1400" dirty="0"/>
          </a:p>
        </p:txBody>
      </p:sp>
      <p:sp>
        <p:nvSpPr>
          <p:cNvPr id="28" name="step box Log"/>
          <p:cNvSpPr/>
          <p:nvPr/>
        </p:nvSpPr>
        <p:spPr>
          <a:xfrm>
            <a:off x="9921240" y="1554480"/>
            <a:ext cx="1691640" cy="2651760"/>
          </a:xfrm>
          <a:prstGeom prst="roundRect">
            <a:avLst>
              <a:gd name="adj" fmla="val 6486"/>
            </a:avLst>
          </a:prstGeom>
          <a:solidFill>
            <a:schemeClr val="bg2"/>
          </a:solidFill>
          <a:ln w="12700">
            <a:solidFill>
              <a:schemeClr val="bg2"/>
            </a:solidFill>
            <a:prstDash val="solid"/>
          </a:ln>
        </p:spPr>
      </p:sp>
      <p:sp>
        <p:nvSpPr>
          <p:cNvPr id="29" name="step number circle 5"/>
          <p:cNvSpPr/>
          <p:nvPr/>
        </p:nvSpPr>
        <p:spPr>
          <a:xfrm>
            <a:off x="10104120" y="1737360"/>
            <a:ext cx="502920" cy="502920"/>
          </a:xfrm>
          <a:prstGeom prst="ellipse">
            <a:avLst/>
          </a:prstGeom>
          <a:solidFill>
            <a:schemeClr val="accent1"/>
          </a:solidFill>
          <a:ln w="12700">
            <a:solidFill>
              <a:schemeClr val="accent1"/>
            </a:solidFill>
            <a:prstDash val="solid"/>
          </a:ln>
        </p:spPr>
      </p:sp>
      <p:sp>
        <p:nvSpPr>
          <p:cNvPr id="30" name="step number 5"/>
          <p:cNvSpPr txBox="1"/>
          <p:nvPr/>
        </p:nvSpPr>
        <p:spPr>
          <a:xfrm>
            <a:off x="10104120"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1" name="step title Log"/>
          <p:cNvSpPr txBox="1"/>
          <p:nvPr/>
        </p:nvSpPr>
        <p:spPr>
          <a:xfrm>
            <a:off x="10104120" y="2377440"/>
            <a:ext cx="1325880" cy="457200"/>
          </a:xfrm>
          <a:prstGeom prst="rect">
            <a:avLst/>
          </a:prstGeom>
          <a:noFill/>
          <a:ln/>
        </p:spPr>
        <p:txBody>
          <a:bodyPr wrap="square" lIns="0" tIns="0" rIns="0" bIns="0" rtlCol="0" anchor="ctr"/>
          <a:lstStyle/>
          <a:p>
            <a:pPr indent="0" marL="0">
              <a:buNone/>
            </a:pPr>
            <a:r>
              <a:rPr lang="en-US" sz="1800" b="1" dirty="0">
                <a:solidFill>
                  <a:schemeClr val="tx2"/>
                </a:solidFill>
              </a:rPr>
              <a:t>Log</a:t>
            </a:r>
            <a:endParaRPr lang="en-US" sz="1800" dirty="0"/>
          </a:p>
        </p:txBody>
      </p:sp>
      <p:sp>
        <p:nvSpPr>
          <p:cNvPr id="32" name="step text Log"/>
          <p:cNvSpPr txBox="1"/>
          <p:nvPr/>
        </p:nvSpPr>
        <p:spPr>
          <a:xfrm>
            <a:off x="10104120" y="2834640"/>
            <a:ext cx="1325880" cy="1280160"/>
          </a:xfrm>
          <a:prstGeom prst="rect">
            <a:avLst/>
          </a:prstGeom>
          <a:noFill/>
          <a:ln/>
        </p:spPr>
        <p:txBody>
          <a:bodyPr wrap="square" lIns="0" tIns="0" rIns="0" bIns="0" rtlCol="0" anchor="t"/>
          <a:lstStyle/>
          <a:p>
            <a:pPr indent="0" marL="0">
              <a:buNone/>
            </a:pPr>
            <a:r>
              <a:rPr lang="en-US" sz="1400" dirty="0">
                <a:solidFill>
                  <a:schemeClr val="tx1"/>
                </a:solidFill>
              </a:rPr>
              <a:t>Verified packets to a telemetry CSV</a:t>
            </a:r>
            <a:endParaRPr lang="en-US" sz="1400" dirty="0"/>
          </a:p>
        </p:txBody>
      </p:sp>
      <p:sp>
        <p:nvSpPr>
          <p:cNvPr id="33" name="pipeline notes"/>
          <p:cNvSpPr txBox="1"/>
          <p:nvPr/>
        </p:nvSpPr>
        <p:spPr>
          <a:xfrm>
            <a:off x="548640" y="4526280"/>
            <a:ext cx="11064240" cy="173736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tx1"/>
                </a:solidFill>
              </a:rPr>
              <a:t>No settings. </a:t>
            </a:r>
            <a:pPr indent="0" marL="0">
              <a:spcAft>
                <a:spcPts val="800"/>
              </a:spcAft>
              <a:buNone/>
            </a:pPr>
            <a:r>
              <a:rPr lang="en-US" sz="1600" dirty="0">
                <a:solidFill>
                  <a:schemeClr val="tx1"/>
                </a:solidFill>
              </a:rPr>
              <a:t>Drift, timing and polarity come from the recording itself; the same code ran unchanged on every pass and station.</a:t>
            </a:r>
            <a:endParaRPr lang="en-US" sz="1600" dirty="0"/>
          </a:p>
          <a:p>
            <a:pPr marL="342900" indent="-342900">
              <a:spcAft>
                <a:spcPts val="800"/>
              </a:spcAft>
              <a:buSzPct val="100000"/>
              <a:buChar char="•"/>
            </a:pPr>
            <a:r>
              <a:rPr lang="en-US" sz="1600" b="1" dirty="0">
                <a:solidFill>
                  <a:schemeClr val="tx1"/>
                </a:solidFill>
              </a:rPr>
              <a:t>Re-acquires automatically. </a:t>
            </a:r>
            <a:pPr indent="0" marL="0">
              <a:spcAft>
                <a:spcPts val="800"/>
              </a:spcAft>
              <a:buNone/>
            </a:pPr>
            <a:r>
              <a:rPr lang="en-US" sz="1600" dirty="0">
                <a:solidFill>
                  <a:schemeClr val="tx1"/>
                </a:solidFill>
              </a:rPr>
              <a:t>It searches for packet flags continuously, so it picks the signal back up after every fade.</a:t>
            </a:r>
            <a:endParaRPr lang="en-US" sz="1600" dirty="0"/>
          </a:p>
          <a:p>
            <a:pPr marL="342900" indent="-342900">
              <a:spcAft>
                <a:spcPts val="800"/>
              </a:spcAft>
              <a:buSzPct val="100000"/>
              <a:buChar char="•"/>
            </a:pPr>
            <a:r>
              <a:rPr lang="en-US" sz="1600" b="1" dirty="0">
                <a:solidFill>
                  <a:schemeClr val="tx1"/>
                </a:solidFill>
              </a:rPr>
              <a:t>Never trusts a bad packet. </a:t>
            </a:r>
            <a:pPr indent="0" marL="0">
              <a:spcAft>
                <a:spcPts val="800"/>
              </a:spcAft>
              <a:buNone/>
            </a:pPr>
            <a:r>
              <a:rPr lang="en-US" sz="1600" dirty="0">
                <a:solidFill>
                  <a:schemeClr val="tx1"/>
                </a:solidFill>
              </a:rPr>
              <a:t>Every packet passes CRC-16 plus a callsign check against false accepts.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Before/after: noisy recording to verified signal</a:t>
            </a:r>
            <a:endParaRPr lang="en-US" sz="3200" dirty="0"/>
          </a:p>
        </p:txBody>
      </p:sp>
      <p:pic>
        <p:nvPicPr>
          <p:cNvPr id="3" name="before after spectrum" descr="C:/Users/katie/seds-hack/results/spectrum_15104225.png">    </p:cNvPr>
          <p:cNvPicPr>
            <a:picLocks noChangeAspect="1"/>
          </p:cNvPicPr>
          <p:nvPr/>
        </p:nvPicPr>
        <p:blipFill>
          <a:blip r:embed="rId1"/>
          <a:stretch>
            <a:fillRect/>
          </a:stretch>
        </p:blipFill>
        <p:spPr>
          <a:xfrm>
            <a:off x="548640" y="1234440"/>
            <a:ext cx="7772400" cy="4783015"/>
          </a:xfrm>
          <a:prstGeom prst="rect">
            <a:avLst/>
          </a:prstGeom>
        </p:spPr>
      </p:pic>
      <p:sp>
        <p:nvSpPr>
          <p:cNvPr id="4" name="spectrum notes"/>
          <p:cNvSpPr txBox="1"/>
          <p:nvPr/>
        </p:nvSpPr>
        <p:spPr>
          <a:xfrm>
            <a:off x="8641080" y="1371600"/>
            <a:ext cx="2971800" cy="411480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1"/>
                </a:solidFill>
              </a:rPr>
              <a:t>Before: </a:t>
            </a:r>
            <a:pPr indent="0" marL="0">
              <a:spcAft>
                <a:spcPts val="800"/>
              </a:spcAft>
              <a:buNone/>
            </a:pPr>
            <a:r>
              <a:rPr lang="en-US" sz="1500" dirty="0">
                <a:solidFill>
                  <a:schemeClr val="tx1"/>
                </a:solidFill>
              </a:rPr>
              <a:t>raw ground-station audio. Packet bursts are faint stripes in the noise</a:t>
            </a:r>
            <a:endParaRPr lang="en-US" sz="1500" dirty="0"/>
          </a:p>
          <a:p>
            <a:pPr marL="342900" indent="-342900">
              <a:spcAft>
                <a:spcPts val="800"/>
              </a:spcAft>
              <a:buSzPct val="100000"/>
              <a:buChar char="•"/>
            </a:pPr>
            <a:r>
              <a:rPr lang="en-US" sz="1500" b="1" dirty="0">
                <a:solidFill>
                  <a:schemeClr val="tx1"/>
                </a:solidFill>
              </a:rPr>
              <a:t>After: </a:t>
            </a:r>
            <a:pPr indent="0" marL="0">
              <a:spcAft>
                <a:spcPts val="800"/>
              </a:spcAft>
              <a:buNone/>
            </a:pPr>
            <a:r>
              <a:rPr lang="en-US" sz="1500" dirty="0">
                <a:solidFill>
                  <a:schemeClr val="tx1"/>
                </a:solidFill>
              </a:rPr>
              <a:t>the signal rebuilt from our 119 CRC-verified packets</a:t>
            </a:r>
            <a:endParaRPr lang="en-US" sz="1500" dirty="0"/>
          </a:p>
          <a:p>
            <a:pPr marL="342900" indent="-342900">
              <a:spcAft>
                <a:spcPts val="800"/>
              </a:spcAft>
              <a:buSzPct val="100000"/>
              <a:buChar char="•"/>
            </a:pPr>
            <a:r>
              <a:rPr lang="en-US" sz="1500" dirty="0">
                <a:solidFill>
                  <a:schemeClr val="tx1"/>
                </a:solidFill>
              </a:rPr>
              <a:t>The recovered spectrum rolls off near 4.8 kHz, as 9600-baud GMSK should</a:t>
            </a:r>
            <a:endParaRPr lang="en-US" sz="1500" dirty="0"/>
          </a:p>
        </p:txBody>
      </p:sp>
      <p:sp>
        <p:nvSpPr>
          <p:cNvPr id="5" name="caption"/>
          <p:cNvSpPr txBox="1"/>
          <p:nvPr/>
        </p:nvSpPr>
        <p:spPr>
          <a:xfrm>
            <a:off x="548640" y="6035040"/>
            <a:ext cx="8229600" cy="320040"/>
          </a:xfrm>
          <a:prstGeom prst="rect">
            <a:avLst/>
          </a:prstGeom>
          <a:noFill/>
          <a:ln/>
        </p:spPr>
        <p:txBody>
          <a:bodyPr wrap="square" lIns="0" tIns="0" rIns="0" bIns="0" rtlCol="0" anchor="ctr"/>
          <a:lstStyle/>
          <a:p>
            <a:pPr indent="0" marL="0">
              <a:buNone/>
            </a:pPr>
            <a:r>
              <a:rPr lang="en-US" sz="1100" i="1" dirty="0">
                <a:solidFill>
                  <a:schemeClr val="accent3"/>
                </a:solidFill>
              </a:rPr>
              <a:t>Pass 15104225, PE0SAT-12 ground station, 2026-10-02. Plots for all 3 passes are in results/.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Telemetry log: 780 checksum-verified packets</a:t>
            </a:r>
            <a:endParaRPr lang="en-US" sz="3200" dirty="0"/>
          </a:p>
        </p:txBody>
      </p:sp>
      <p:graphicFrame>
        <p:nvGraphicFramePr>
          <p:cNvPr id="9" name="telemetry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188720"/>
                <a:gridCol w="2103120"/>
                <a:gridCol w="1737360"/>
                <a:gridCol w="822960"/>
                <a:gridCol w="1371600"/>
                <a:gridCol w="3840480"/>
              </a:tblGrid>
              <a:tr h="384048">
                <a:tc>
                  <a:txBody>
                    <a:bodyPr/>
                    <a:lstStyle/>
                    <a:p>
                      <a:pPr indent="0" marL="0">
                        <a:buNone/>
                      </a:pPr>
                      <a:r>
                        <a:rPr lang="en-US" sz="1300" b="1" dirty="0">
                          <a:solidFill>
                            <a:schemeClr val="bg1"/>
                          </a:solidFill>
                        </a:rPr>
                        <a:t>Pass</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UTC (approx.)</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From → To</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Bytes</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Bits repaired</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Payload (start)</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tx2"/>
                    </a:solidFill>
                  </a:tcPr>
                </a:tc>
              </a:tr>
              <a:tr h="384048">
                <a:tc>
                  <a:txBody>
                    <a:bodyPr/>
                    <a:lstStyle/>
                    <a:p>
                      <a:pPr indent="0" marL="0">
                        <a:buNone/>
                      </a:pPr>
                      <a:r>
                        <a:rPr lang="en-US" sz="1300" dirty="0">
                          <a:solidFill>
                            <a:schemeClr val="tx1"/>
                          </a:solidFill>
                        </a:rPr>
                        <a:t>15039241</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2026-09-21 16:10:45</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DP0SNX → CQ</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146</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2700ba4618000864eb5b…</a:t>
                      </a:r>
                      <a:endParaRPr lang="en-US" sz="1300" dirty="0">
                        <a:latin typeface="Courier New" charset="0"/>
                        <a:ea typeface="Courier New" charset="0"/>
                        <a:cs typeface="Courier New" charset="0"/>
                      </a:endParaRPr>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15039241</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2026-09-21 16:10:48</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DP0SNX → CQ</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82</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2702bc37180008c8c032…</a:t>
                      </a:r>
                      <a:endParaRPr lang="en-US" sz="1300" dirty="0">
                        <a:latin typeface="Courier New" charset="0"/>
                        <a:ea typeface="Courier New" charset="0"/>
                        <a:cs typeface="Courier New" charset="0"/>
                      </a:endParaRPr>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15039241</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2026-09-21 16:10:50</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DP0SNX → CQ</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63</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2702bf39180008d3e0e7…</a:t>
                      </a:r>
                      <a:endParaRPr lang="en-US" sz="1300" dirty="0">
                        <a:latin typeface="Courier New" charset="0"/>
                        <a:ea typeface="Courier New" charset="0"/>
                        <a:cs typeface="Courier New" charset="0"/>
                      </a:endParaRPr>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15039241</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2026-09-21 16:10:51</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DP0SNX → CQ</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146</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2700c04918000864eb5e…</a:t>
                      </a:r>
                      <a:endParaRPr lang="en-US" sz="1300" dirty="0">
                        <a:latin typeface="Courier New" charset="0"/>
                        <a:ea typeface="Courier New" charset="0"/>
                        <a:cs typeface="Courier New" charset="0"/>
                      </a:endParaRPr>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15039241</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2026-09-21 16:11:03</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DP0SNX → CQ</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146</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a:t>
                      </a:r>
                      <a:endParaRPr lang="en-US" sz="1300" dirty="0"/>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2700ca4f18000864eb64…</a:t>
                      </a:r>
                      <a:endParaRPr lang="en-US" sz="1300" dirty="0">
                        <a:latin typeface="Courier New" charset="0"/>
                        <a:ea typeface="Courier New" charset="0"/>
                        <a:cs typeface="Courier New" charset="0"/>
                      </a:endParaRPr>
                    </a:p>
                  </a:txBody>
                  <a:tcPr marL="91440" marR="91440" marT="45720" marB="45720">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r>
            </a:tbl>
          </a:graphicData>
        </a:graphic>
      </p:graphicFrame>
      <p:sp>
        <p:nvSpPr>
          <p:cNvPr id="4" name="stat 780 card"/>
          <p:cNvSpPr/>
          <p:nvPr/>
        </p:nvSpPr>
        <p:spPr>
          <a:xfrm>
            <a:off x="548640" y="3977640"/>
            <a:ext cx="3474720" cy="1417320"/>
          </a:xfrm>
          <a:prstGeom prst="roundRect">
            <a:avLst>
              <a:gd name="adj" fmla="val 7742"/>
            </a:avLst>
          </a:prstGeom>
          <a:solidFill>
            <a:schemeClr val="bg2"/>
          </a:solidFill>
          <a:ln w="12700">
            <a:solidFill>
              <a:schemeClr val="bg2"/>
            </a:solidFill>
            <a:prstDash val="solid"/>
          </a:ln>
        </p:spPr>
      </p:sp>
      <p:sp>
        <p:nvSpPr>
          <p:cNvPr id="5" name="stat 780 value"/>
          <p:cNvSpPr txBox="1"/>
          <p:nvPr/>
        </p:nvSpPr>
        <p:spPr>
          <a:xfrm>
            <a:off x="777240" y="4114800"/>
            <a:ext cx="301752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780</a:t>
            </a:r>
            <a:endParaRPr lang="en-US" sz="4000" dirty="0"/>
          </a:p>
        </p:txBody>
      </p:sp>
      <p:sp>
        <p:nvSpPr>
          <p:cNvPr id="6" name="stat 780 label"/>
          <p:cNvSpPr txBox="1"/>
          <p:nvPr/>
        </p:nvSpPr>
        <p:spPr>
          <a:xfrm>
            <a:off x="777240" y="4846320"/>
            <a:ext cx="3017520" cy="457200"/>
          </a:xfrm>
          <a:prstGeom prst="rect">
            <a:avLst/>
          </a:prstGeom>
          <a:noFill/>
          <a:ln/>
        </p:spPr>
        <p:txBody>
          <a:bodyPr wrap="square" lIns="0" tIns="0" rIns="0" bIns="0" rtlCol="0" anchor="t"/>
          <a:lstStyle/>
          <a:p>
            <a:pPr indent="0" marL="0">
              <a:buNone/>
            </a:pPr>
            <a:r>
              <a:rPr lang="en-US" sz="1400" dirty="0">
                <a:solidFill>
                  <a:schemeClr val="tx1"/>
                </a:solidFill>
              </a:rPr>
              <a:t>verified packets in results/telemetry_log.csv</a:t>
            </a:r>
            <a:endParaRPr lang="en-US" sz="1400" dirty="0"/>
          </a:p>
        </p:txBody>
      </p:sp>
      <p:sp>
        <p:nvSpPr>
          <p:cNvPr id="7" name="stat types card"/>
          <p:cNvSpPr/>
          <p:nvPr/>
        </p:nvSpPr>
        <p:spPr>
          <a:xfrm>
            <a:off x="4343400" y="3977640"/>
            <a:ext cx="3474720" cy="1417320"/>
          </a:xfrm>
          <a:prstGeom prst="roundRect">
            <a:avLst>
              <a:gd name="adj" fmla="val 7742"/>
            </a:avLst>
          </a:prstGeom>
          <a:solidFill>
            <a:schemeClr val="bg2"/>
          </a:solidFill>
          <a:ln w="12700">
            <a:solidFill>
              <a:schemeClr val="bg2"/>
            </a:solidFill>
            <a:prstDash val="solid"/>
          </a:ln>
        </p:spPr>
      </p:sp>
      <p:sp>
        <p:nvSpPr>
          <p:cNvPr id="8" name="stat types value"/>
          <p:cNvSpPr txBox="1"/>
          <p:nvPr/>
        </p:nvSpPr>
        <p:spPr>
          <a:xfrm>
            <a:off x="4572000" y="4114800"/>
            <a:ext cx="301752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2</a:t>
            </a:r>
            <a:endParaRPr lang="en-US" sz="4000" dirty="0"/>
          </a:p>
        </p:txBody>
      </p:sp>
      <p:sp>
        <p:nvSpPr>
          <p:cNvPr id="9" name="stat types label"/>
          <p:cNvSpPr txBox="1"/>
          <p:nvPr/>
        </p:nvSpPr>
        <p:spPr>
          <a:xfrm>
            <a:off x="4572000" y="4846320"/>
            <a:ext cx="3017520" cy="457200"/>
          </a:xfrm>
          <a:prstGeom prst="rect">
            <a:avLst/>
          </a:prstGeom>
          <a:noFill/>
          <a:ln/>
        </p:spPr>
        <p:txBody>
          <a:bodyPr wrap="square" lIns="0" tIns="0" rIns="0" bIns="0" rtlCol="0" anchor="t"/>
          <a:lstStyle/>
          <a:p>
            <a:pPr indent="0" marL="0">
              <a:buNone/>
            </a:pPr>
            <a:r>
              <a:rPr lang="en-US" sz="1400" dirty="0">
                <a:solidFill>
                  <a:schemeClr val="tx1"/>
                </a:solidFill>
              </a:rPr>
              <a:t>packet types: 146 B and 271 B (byte 1 of payload)</a:t>
            </a:r>
            <a:endParaRPr lang="en-US" sz="1400" dirty="0"/>
          </a:p>
        </p:txBody>
      </p:sp>
      <p:sp>
        <p:nvSpPr>
          <p:cNvPr id="10" name="stat counter card"/>
          <p:cNvSpPr/>
          <p:nvPr/>
        </p:nvSpPr>
        <p:spPr>
          <a:xfrm>
            <a:off x="8138160" y="3977640"/>
            <a:ext cx="3474720" cy="1417320"/>
          </a:xfrm>
          <a:prstGeom prst="roundRect">
            <a:avLst>
              <a:gd name="adj" fmla="val 7742"/>
            </a:avLst>
          </a:prstGeom>
          <a:solidFill>
            <a:schemeClr val="bg2"/>
          </a:solidFill>
          <a:ln w="12700">
            <a:solidFill>
              <a:schemeClr val="bg2"/>
            </a:solidFill>
            <a:prstDash val="solid"/>
          </a:ln>
        </p:spPr>
      </p:sp>
      <p:sp>
        <p:nvSpPr>
          <p:cNvPr id="11" name="stat counter value"/>
          <p:cNvSpPr txBox="1"/>
          <p:nvPr/>
        </p:nvSpPr>
        <p:spPr>
          <a:xfrm>
            <a:off x="8366760" y="4114800"/>
            <a:ext cx="3017520" cy="731520"/>
          </a:xfrm>
          <a:prstGeom prst="rect">
            <a:avLst/>
          </a:prstGeom>
          <a:noFill/>
          <a:ln/>
        </p:spPr>
        <p:txBody>
          <a:bodyPr wrap="square" lIns="0" tIns="0" rIns="0" bIns="0" rtlCol="0" anchor="ctr"/>
          <a:lstStyle/>
          <a:p>
            <a:pPr indent="0" marL="0">
              <a:buNone/>
            </a:pPr>
            <a:r>
              <a:rPr lang="en-US" sz="4000" b="1" dirty="0">
                <a:solidFill>
                  <a:schemeClr val="accent2"/>
                </a:solidFill>
                <a:latin typeface="Arial" pitchFamily="34" charset="0"/>
                <a:ea typeface="Arial" pitchFamily="34" charset="-122"/>
                <a:cs typeface="Arial" pitchFamily="34" charset="-120"/>
              </a:rPr>
              <a:t>1 counter</a:t>
            </a:r>
            <a:endParaRPr lang="en-US" sz="4000" dirty="0"/>
          </a:p>
        </p:txBody>
      </p:sp>
      <p:sp>
        <p:nvSpPr>
          <p:cNvPr id="12" name="stat counter label"/>
          <p:cNvSpPr txBox="1"/>
          <p:nvPr/>
        </p:nvSpPr>
        <p:spPr>
          <a:xfrm>
            <a:off x="8366760" y="4846320"/>
            <a:ext cx="3017520" cy="457200"/>
          </a:xfrm>
          <a:prstGeom prst="rect">
            <a:avLst/>
          </a:prstGeom>
          <a:noFill/>
          <a:ln/>
        </p:spPr>
        <p:txBody>
          <a:bodyPr wrap="square" lIns="0" tIns="0" rIns="0" bIns="0" rtlCol="0" anchor="t"/>
          <a:lstStyle/>
          <a:p>
            <a:pPr indent="0" marL="0">
              <a:buNone/>
            </a:pPr>
            <a:r>
              <a:rPr lang="en-US" sz="1400" dirty="0">
                <a:solidFill>
                  <a:schemeClr val="tx1"/>
                </a:solidFill>
              </a:rPr>
              <a:t>byte 2 numbers every packet, so gaps = missed packets</a:t>
            </a:r>
            <a:endParaRPr lang="en-US" sz="1400" dirty="0"/>
          </a:p>
        </p:txBody>
      </p:sp>
      <p:sp>
        <p:nvSpPr>
          <p:cNvPr id="13" name="caption"/>
          <p:cNvSpPr txBox="1"/>
          <p:nvPr/>
        </p:nvSpPr>
        <p:spPr>
          <a:xfrm>
            <a:off x="548640" y="5623560"/>
            <a:ext cx="11064240" cy="320040"/>
          </a:xfrm>
          <a:prstGeom prst="rect">
            <a:avLst/>
          </a:prstGeom>
          <a:noFill/>
          <a:ln/>
        </p:spPr>
        <p:txBody>
          <a:bodyPr wrap="square" lIns="0" tIns="0" rIns="0" bIns="0" rtlCol="0" anchor="ctr"/>
          <a:lstStyle/>
          <a:p>
            <a:pPr indent="0" marL="0">
              <a:buNone/>
            </a:pPr>
            <a:r>
              <a:rPr lang="en-US" sz="1100" i="1" dirty="0">
                <a:solidFill>
                  <a:schemeClr val="accent3"/>
                </a:solidFill>
              </a:rPr>
              <a:t>DP0SNX is SONATE-2's callsign. Payload layout inferred from the data; SatNOGS has no public field decoder for SONATE-2 either.</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10 ghost frames: packets SatNOGS's decoder missed</a:t>
            </a:r>
            <a:endParaRPr lang="en-US" sz="3200" dirty="0"/>
          </a:p>
        </p:txBody>
      </p:sp>
      <p:pic>
        <p:nvPicPr>
          <p:cNvPr id="3" name="comparison plot" descr="C:/Users/katie/seds-hack/results/comparison.png">    </p:cNvPr>
          <p:cNvPicPr>
            <a:picLocks noChangeAspect="1"/>
          </p:cNvPicPr>
          <p:nvPr/>
        </p:nvPicPr>
        <p:blipFill>
          <a:blip r:embed="rId1"/>
          <a:stretch>
            <a:fillRect/>
          </a:stretch>
        </p:blipFill>
        <p:spPr>
          <a:xfrm>
            <a:off x="548640" y="1325880"/>
            <a:ext cx="6949440" cy="3088640"/>
          </a:xfrm>
          <a:prstGeom prst="rect">
            <a:avLst/>
          </a:prstGeom>
        </p:spPr>
      </p:pic>
      <p:sp>
        <p:nvSpPr>
          <p:cNvPr id="4" name="stat ghosts card"/>
          <p:cNvSpPr/>
          <p:nvPr/>
        </p:nvSpPr>
        <p:spPr>
          <a:xfrm>
            <a:off x="7863840" y="1325880"/>
            <a:ext cx="3749040" cy="1417320"/>
          </a:xfrm>
          <a:prstGeom prst="roundRect">
            <a:avLst>
              <a:gd name="adj" fmla="val 7742"/>
            </a:avLst>
          </a:prstGeom>
          <a:solidFill>
            <a:schemeClr val="bg2"/>
          </a:solidFill>
          <a:ln w="12700">
            <a:solidFill>
              <a:schemeClr val="bg2"/>
            </a:solidFill>
            <a:prstDash val="solid"/>
          </a:ln>
        </p:spPr>
      </p:sp>
      <p:sp>
        <p:nvSpPr>
          <p:cNvPr id="5" name="stat ghosts value"/>
          <p:cNvSpPr txBox="1"/>
          <p:nvPr/>
        </p:nvSpPr>
        <p:spPr>
          <a:xfrm>
            <a:off x="8092440" y="1463040"/>
            <a:ext cx="3291840" cy="731520"/>
          </a:xfrm>
          <a:prstGeom prst="rect">
            <a:avLst/>
          </a:prstGeom>
          <a:noFill/>
          <a:ln/>
        </p:spPr>
        <p:txBody>
          <a:bodyPr wrap="square" lIns="0" tIns="0" rIns="0" bIns="0" rtlCol="0" anchor="ctr"/>
          <a:lstStyle/>
          <a:p>
            <a:pPr indent="0" marL="0">
              <a:buNone/>
            </a:pPr>
            <a:r>
              <a:rPr lang="en-US" sz="4000" b="1" dirty="0">
                <a:solidFill>
                  <a:schemeClr val="accent2"/>
                </a:solidFill>
                <a:latin typeface="Arial" pitchFamily="34" charset="0"/>
                <a:ea typeface="Arial" pitchFamily="34" charset="-122"/>
                <a:cs typeface="Arial" pitchFamily="34" charset="-120"/>
              </a:rPr>
              <a:t>10</a:t>
            </a:r>
            <a:endParaRPr lang="en-US" sz="4000" dirty="0"/>
          </a:p>
        </p:txBody>
      </p:sp>
      <p:sp>
        <p:nvSpPr>
          <p:cNvPr id="6" name="stat ghosts label"/>
          <p:cNvSpPr txBox="1"/>
          <p:nvPr/>
        </p:nvSpPr>
        <p:spPr>
          <a:xfrm>
            <a:off x="8092440" y="2194560"/>
            <a:ext cx="3291840" cy="457200"/>
          </a:xfrm>
          <a:prstGeom prst="rect">
            <a:avLst/>
          </a:prstGeom>
          <a:noFill/>
          <a:ln/>
        </p:spPr>
        <p:txBody>
          <a:bodyPr wrap="square" lIns="0" tIns="0" rIns="0" bIns="0" rtlCol="0" anchor="t"/>
          <a:lstStyle/>
          <a:p>
            <a:pPr indent="0" marL="0">
              <a:buNone/>
            </a:pPr>
            <a:r>
              <a:rPr lang="en-US" sz="1400" dirty="0">
                <a:solidFill>
                  <a:schemeClr val="tx1"/>
                </a:solidFill>
              </a:rPr>
              <a:t>ghost frames, all CRC-valid; 7 confirmed by other ground stations</a:t>
            </a:r>
            <a:endParaRPr lang="en-US" sz="1400" dirty="0"/>
          </a:p>
        </p:txBody>
      </p:sp>
      <p:sp>
        <p:nvSpPr>
          <p:cNvPr id="7" name="stat rescued card"/>
          <p:cNvSpPr/>
          <p:nvPr/>
        </p:nvSpPr>
        <p:spPr>
          <a:xfrm>
            <a:off x="7863840" y="2926080"/>
            <a:ext cx="3749040" cy="1417320"/>
          </a:xfrm>
          <a:prstGeom prst="roundRect">
            <a:avLst>
              <a:gd name="adj" fmla="val 7742"/>
            </a:avLst>
          </a:prstGeom>
          <a:solidFill>
            <a:schemeClr val="bg2"/>
          </a:solidFill>
          <a:ln w="12700">
            <a:solidFill>
              <a:schemeClr val="bg2"/>
            </a:solidFill>
            <a:prstDash val="solid"/>
          </a:ln>
        </p:spPr>
      </p:sp>
      <p:sp>
        <p:nvSpPr>
          <p:cNvPr id="8" name="stat rescued value"/>
          <p:cNvSpPr txBox="1"/>
          <p:nvPr/>
        </p:nvSpPr>
        <p:spPr>
          <a:xfrm>
            <a:off x="8092440" y="3063240"/>
            <a:ext cx="329184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41%</a:t>
            </a:r>
            <a:endParaRPr lang="en-US" sz="4000" dirty="0"/>
          </a:p>
        </p:txBody>
      </p:sp>
      <p:sp>
        <p:nvSpPr>
          <p:cNvPr id="9" name="stat rescued label"/>
          <p:cNvSpPr txBox="1"/>
          <p:nvPr/>
        </p:nvSpPr>
        <p:spPr>
          <a:xfrm>
            <a:off x="8092440" y="3794760"/>
            <a:ext cx="3291840" cy="457200"/>
          </a:xfrm>
          <a:prstGeom prst="rect">
            <a:avLst/>
          </a:prstGeom>
          <a:noFill/>
          <a:ln/>
        </p:spPr>
        <p:txBody>
          <a:bodyPr wrap="square" lIns="0" tIns="0" rIns="0" bIns="0" rtlCol="0" anchor="t"/>
          <a:lstStyle/>
          <a:p>
            <a:pPr indent="0" marL="0">
              <a:buNone/>
            </a:pPr>
            <a:r>
              <a:rPr lang="en-US" sz="1400" dirty="0">
                <a:solidFill>
                  <a:schemeClr val="tx1"/>
                </a:solidFill>
              </a:rPr>
              <a:t>of our packets rescued by bit repair (8 of the 10 ghosts)</a:t>
            </a:r>
            <a:endParaRPr lang="en-US" sz="1400" dirty="0"/>
          </a:p>
        </p:txBody>
      </p:sp>
      <p:sp>
        <p:nvSpPr>
          <p:cNvPr id="10" name="comparison notes"/>
          <p:cNvSpPr txBox="1"/>
          <p:nvPr/>
        </p:nvSpPr>
        <p:spPr>
          <a:xfrm>
            <a:off x="548640" y="4572000"/>
            <a:ext cx="6949440" cy="164592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1"/>
                </a:solidFill>
              </a:rPr>
              <a:t>Strong pass (PE0SAT-12): </a:t>
            </a:r>
            <a:pPr indent="0" marL="0">
              <a:spcAft>
                <a:spcPts val="800"/>
              </a:spcAft>
              <a:buNone/>
            </a:pPr>
            <a:r>
              <a:rPr lang="en-US" sz="1500" dirty="0">
                <a:solidFill>
                  <a:schemeClr val="tx1"/>
                </a:solidFill>
              </a:rPr>
              <a:t>every packet SatNOGS got, plus 9 more</a:t>
            </a:r>
            <a:endParaRPr lang="en-US" sz="1500" dirty="0"/>
          </a:p>
          <a:p>
            <a:pPr marL="342900" indent="-342900">
              <a:spcAft>
                <a:spcPts val="800"/>
              </a:spcAft>
              <a:buSzPct val="100000"/>
              <a:buChar char="•"/>
            </a:pPr>
            <a:r>
              <a:rPr lang="en-US" sz="1500" b="1" dirty="0">
                <a:solidFill>
                  <a:schemeClr val="tx1"/>
                </a:solidFill>
              </a:rPr>
              <a:t>Weaker passes (DK0SB): </a:t>
            </a:r>
            <a:pPr indent="0" marL="0">
              <a:spcAft>
                <a:spcPts val="800"/>
              </a:spcAft>
              <a:buNone/>
            </a:pPr>
            <a:r>
              <a:rPr lang="en-US" sz="1500" dirty="0">
                <a:solidFill>
                  <a:schemeClr val="tx1"/>
                </a:solidFill>
              </a:rPr>
              <a:t>about two thirds of SatNOGS's count; we lose the weak start and end of each pass</a:t>
            </a:r>
            <a:endParaRPr lang="en-US" sz="1500" dirty="0"/>
          </a:p>
          <a:p>
            <a:pPr marL="342900" indent="-342900">
              <a:spcAft>
                <a:spcPts val="800"/>
              </a:spcAft>
              <a:buSzPct val="100000"/>
              <a:buChar char="•"/>
            </a:pPr>
            <a:r>
              <a:rPr lang="en-US" sz="1500" dirty="0">
                <a:solidFill>
                  <a:schemeClr val="tx1"/>
                </a:solidFill>
              </a:rPr>
              <a:t>770 packets match SatNOGS byte for byte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The receiver measures its own packet loss</a:t>
            </a:r>
            <a:endParaRPr lang="en-US" sz="3200" dirty="0"/>
          </a:p>
        </p:txBody>
      </p:sp>
      <p:pic>
        <p:nvPicPr>
          <p:cNvPr id="3" name="packet counter plot" descr="C:/Users/katie/seds-hack/results/packet_counter.png">    </p:cNvPr>
          <p:cNvPicPr>
            <a:picLocks noChangeAspect="1"/>
          </p:cNvPicPr>
          <p:nvPr/>
        </p:nvPicPr>
        <p:blipFill>
          <a:blip r:embed="rId1"/>
          <a:stretch>
            <a:fillRect/>
          </a:stretch>
        </p:blipFill>
        <p:spPr>
          <a:xfrm>
            <a:off x="548640" y="1280160"/>
            <a:ext cx="8595360" cy="3967089"/>
          </a:xfrm>
          <a:prstGeom prst="rect">
            <a:avLst/>
          </a:prstGeom>
        </p:spPr>
      </p:pic>
      <p:sp>
        <p:nvSpPr>
          <p:cNvPr id="4" name="counter notes"/>
          <p:cNvSpPr txBox="1"/>
          <p:nvPr/>
        </p:nvSpPr>
        <p:spPr>
          <a:xfrm>
            <a:off x="9418320" y="1371600"/>
            <a:ext cx="2194560" cy="4754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Gaps in the satellite's packet counter = packets we missed</a:t>
            </a:r>
            <a:endParaRPr lang="en-US" sz="1400" dirty="0"/>
          </a:p>
          <a:p>
            <a:pPr marL="342900" indent="-342900">
              <a:spcAft>
                <a:spcPts val="800"/>
              </a:spcAft>
              <a:buSzPct val="100000"/>
              <a:buChar char="•"/>
            </a:pPr>
            <a:r>
              <a:rPr lang="en-US" sz="1400" b="1" dirty="0">
                <a:solidFill>
                  <a:schemeClr val="accent1"/>
                </a:solidFill>
              </a:rPr>
              <a:t>3% loss</a:t>
            </a:r>
            <a:pPr indent="0" marL="0">
              <a:spcAft>
                <a:spcPts val="800"/>
              </a:spcAft>
              <a:buNone/>
            </a:pPr>
            <a:r>
              <a:rPr lang="en-US" sz="1400" dirty="0">
                <a:solidFill>
                  <a:schemeClr val="tx1"/>
                </a:solidFill>
              </a:rPr>
              <a:t> on the strongest pass</a:t>
            </a:r>
            <a:endParaRPr lang="en-US" sz="1400" dirty="0"/>
          </a:p>
          <a:p>
            <a:pPr marL="342900" indent="-342900">
              <a:spcAft>
                <a:spcPts val="800"/>
              </a:spcAft>
              <a:buSzPct val="100000"/>
              <a:buChar char="•"/>
            </a:pPr>
            <a:r>
              <a:rPr lang="en-US" sz="1400" dirty="0">
                <a:solidFill>
                  <a:schemeClr val="tx1"/>
                </a:solidFill>
              </a:rPr>
              <a:t>Checked against all SatNOGS stations: counters matched on every shared packet</a:t>
            </a:r>
            <a:endParaRPr lang="en-US" sz="1400" dirty="0"/>
          </a:p>
          <a:p>
            <a:pPr marL="342900" indent="-342900">
              <a:spcAft>
                <a:spcPts val="800"/>
              </a:spcAft>
              <a:buSzPct val="100000"/>
              <a:buChar char="•"/>
            </a:pPr>
            <a:r>
              <a:rPr lang="en-US" sz="1400" dirty="0">
                <a:solidFill>
                  <a:schemeClr val="tx1"/>
                </a:solidFill>
              </a:rPr>
              <a:t>Also reveals packets no station received (gray)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Autonomy: we broke the signal, it kept decoding</a:t>
            </a:r>
            <a:endParaRPr lang="en-US" sz="3200" dirty="0"/>
          </a:p>
        </p:txBody>
      </p:sp>
      <p:pic>
        <p:nvPicPr>
          <p:cNvPr id="3" name="stress test plot" descr="C:/Users/katie/seds-hack/results/stress_test.png">    </p:cNvPr>
          <p:cNvPicPr>
            <a:picLocks noChangeAspect="1"/>
          </p:cNvPicPr>
          <p:nvPr/>
        </p:nvPicPr>
        <p:blipFill>
          <a:blip r:embed="rId1"/>
          <a:stretch>
            <a:fillRect/>
          </a:stretch>
        </p:blipFill>
        <p:spPr>
          <a:xfrm>
            <a:off x="548640" y="1188720"/>
            <a:ext cx="7589520" cy="4878977"/>
          </a:xfrm>
          <a:prstGeom prst="rect">
            <a:avLst/>
          </a:prstGeom>
        </p:spPr>
      </p:pic>
      <p:sp>
        <p:nvSpPr>
          <p:cNvPr id="4" name="stat reacq card"/>
          <p:cNvSpPr/>
          <p:nvPr/>
        </p:nvSpPr>
        <p:spPr>
          <a:xfrm>
            <a:off x="8458200" y="1234440"/>
            <a:ext cx="3154680" cy="1417320"/>
          </a:xfrm>
          <a:prstGeom prst="roundRect">
            <a:avLst>
              <a:gd name="adj" fmla="val 7742"/>
            </a:avLst>
          </a:prstGeom>
          <a:solidFill>
            <a:schemeClr val="bg2"/>
          </a:solidFill>
          <a:ln w="12700">
            <a:solidFill>
              <a:schemeClr val="bg2"/>
            </a:solidFill>
            <a:prstDash val="solid"/>
          </a:ln>
        </p:spPr>
      </p:sp>
      <p:sp>
        <p:nvSpPr>
          <p:cNvPr id="5" name="stat reacq value"/>
          <p:cNvSpPr txBox="1"/>
          <p:nvPr/>
        </p:nvSpPr>
        <p:spPr>
          <a:xfrm>
            <a:off x="8686800" y="1371600"/>
            <a:ext cx="269748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 0.4 s</a:t>
            </a:r>
            <a:endParaRPr lang="en-US" sz="4000" dirty="0"/>
          </a:p>
        </p:txBody>
      </p:sp>
      <p:sp>
        <p:nvSpPr>
          <p:cNvPr id="6" name="stat reacq label"/>
          <p:cNvSpPr txBox="1"/>
          <p:nvPr/>
        </p:nvSpPr>
        <p:spPr>
          <a:xfrm>
            <a:off x="8686800" y="2103120"/>
            <a:ext cx="2697480" cy="457200"/>
          </a:xfrm>
          <a:prstGeom prst="rect">
            <a:avLst/>
          </a:prstGeom>
          <a:noFill/>
          <a:ln/>
        </p:spPr>
        <p:txBody>
          <a:bodyPr wrap="square" lIns="0" tIns="0" rIns="0" bIns="0" rtlCol="0" anchor="t"/>
          <a:lstStyle/>
          <a:p>
            <a:pPr indent="0" marL="0">
              <a:buNone/>
            </a:pPr>
            <a:r>
              <a:rPr lang="en-US" sz="1400" dirty="0">
                <a:solidFill>
                  <a:schemeClr val="tx1"/>
                </a:solidFill>
              </a:rPr>
              <a:t>to re-acquire after each of 4 signal dropouts, no reset</a:t>
            </a:r>
            <a:endParaRPr lang="en-US" sz="1400" dirty="0"/>
          </a:p>
        </p:txBody>
      </p:sp>
      <p:sp>
        <p:nvSpPr>
          <p:cNvPr id="7" name="stat noise card"/>
          <p:cNvSpPr/>
          <p:nvPr/>
        </p:nvSpPr>
        <p:spPr>
          <a:xfrm>
            <a:off x="8458200" y="2834640"/>
            <a:ext cx="3154680" cy="1417320"/>
          </a:xfrm>
          <a:prstGeom prst="roundRect">
            <a:avLst>
              <a:gd name="adj" fmla="val 7742"/>
            </a:avLst>
          </a:prstGeom>
          <a:solidFill>
            <a:schemeClr val="bg2"/>
          </a:solidFill>
          <a:ln w="12700">
            <a:solidFill>
              <a:schemeClr val="bg2"/>
            </a:solidFill>
            <a:prstDash val="solid"/>
          </a:ln>
        </p:spPr>
      </p:sp>
      <p:sp>
        <p:nvSpPr>
          <p:cNvPr id="8" name="stat noise value"/>
          <p:cNvSpPr txBox="1"/>
          <p:nvPr/>
        </p:nvSpPr>
        <p:spPr>
          <a:xfrm>
            <a:off x="8686800" y="2971800"/>
            <a:ext cx="2697480" cy="731520"/>
          </a:xfrm>
          <a:prstGeom prst="rect">
            <a:avLst/>
          </a:prstGeom>
          <a:noFill/>
          <a:ln/>
        </p:spPr>
        <p:txBody>
          <a:bodyPr wrap="square" lIns="0" tIns="0" rIns="0" bIns="0" rtlCol="0" anchor="ctr"/>
          <a:lstStyle/>
          <a:p>
            <a:pPr indent="0" marL="0">
              <a:buNone/>
            </a:pPr>
            <a:r>
              <a:rPr lang="en-US" sz="4000" b="1" dirty="0">
                <a:solidFill>
                  <a:schemeClr val="accent2"/>
                </a:solidFill>
                <a:latin typeface="Arial" pitchFamily="34" charset="0"/>
                <a:ea typeface="Arial" pitchFamily="34" charset="-122"/>
                <a:cs typeface="Arial" pitchFamily="34" charset="-120"/>
              </a:rPr>
              <a:t>2×</a:t>
            </a:r>
            <a:endParaRPr lang="en-US" sz="4000" dirty="0"/>
          </a:p>
        </p:txBody>
      </p:sp>
      <p:sp>
        <p:nvSpPr>
          <p:cNvPr id="9" name="stat noise label"/>
          <p:cNvSpPr txBox="1"/>
          <p:nvPr/>
        </p:nvSpPr>
        <p:spPr>
          <a:xfrm>
            <a:off x="8686800" y="3703320"/>
            <a:ext cx="2697480" cy="457200"/>
          </a:xfrm>
          <a:prstGeom prst="rect">
            <a:avLst/>
          </a:prstGeom>
          <a:noFill/>
          <a:ln/>
        </p:spPr>
        <p:txBody>
          <a:bodyPr wrap="square" lIns="0" tIns="0" rIns="0" bIns="0" rtlCol="0" anchor="t"/>
          <a:lstStyle/>
          <a:p>
            <a:pPr indent="0" marL="0">
              <a:buNone/>
            </a:pPr>
            <a:r>
              <a:rPr lang="en-US" sz="1400" dirty="0">
                <a:solidFill>
                  <a:schemeClr val="tx1"/>
                </a:solidFill>
              </a:rPr>
              <a:t>packets near the noise limit with bit repair (~1 dB gain)</a:t>
            </a:r>
            <a:endParaRPr lang="en-US" sz="1400" dirty="0"/>
          </a:p>
        </p:txBody>
      </p:sp>
      <p:sp>
        <p:nvSpPr>
          <p:cNvPr id="10" name="stat offset card"/>
          <p:cNvSpPr/>
          <p:nvPr/>
        </p:nvSpPr>
        <p:spPr>
          <a:xfrm>
            <a:off x="8458200" y="4434840"/>
            <a:ext cx="3154680" cy="1417320"/>
          </a:xfrm>
          <a:prstGeom prst="roundRect">
            <a:avLst>
              <a:gd name="adj" fmla="val 7742"/>
            </a:avLst>
          </a:prstGeom>
          <a:solidFill>
            <a:schemeClr val="bg2"/>
          </a:solidFill>
          <a:ln w="12700">
            <a:solidFill>
              <a:schemeClr val="bg2"/>
            </a:solidFill>
            <a:prstDash val="solid"/>
          </a:ln>
        </p:spPr>
      </p:sp>
      <p:sp>
        <p:nvSpPr>
          <p:cNvPr id="11" name="stat offset value"/>
          <p:cNvSpPr txBox="1"/>
          <p:nvPr/>
        </p:nvSpPr>
        <p:spPr>
          <a:xfrm>
            <a:off x="8686800" y="4572000"/>
            <a:ext cx="269748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119 / 119</a:t>
            </a:r>
            <a:endParaRPr lang="en-US" sz="4000" dirty="0"/>
          </a:p>
        </p:txBody>
      </p:sp>
      <p:sp>
        <p:nvSpPr>
          <p:cNvPr id="12" name="stat offset label"/>
          <p:cNvSpPr txBox="1"/>
          <p:nvPr/>
        </p:nvSpPr>
        <p:spPr>
          <a:xfrm>
            <a:off x="8686800" y="5303520"/>
            <a:ext cx="2697480" cy="457200"/>
          </a:xfrm>
          <a:prstGeom prst="rect">
            <a:avLst/>
          </a:prstGeom>
          <a:noFill/>
          <a:ln/>
        </p:spPr>
        <p:txBody>
          <a:bodyPr wrap="square" lIns="0" tIns="0" rIns="0" bIns="0" rtlCol="0" anchor="t"/>
          <a:lstStyle/>
          <a:p>
            <a:pPr indent="0" marL="0">
              <a:buNone/>
            </a:pPr>
            <a:r>
              <a:rPr lang="en-US" sz="1400" dirty="0">
                <a:solidFill>
                  <a:schemeClr val="tx1"/>
                </a:solidFill>
              </a:rPr>
              <a:t>decoded with constant frequency offsets up to 2×</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Reproducible in a few commands</a:t>
            </a:r>
            <a:endParaRPr lang="en-US" sz="3200" dirty="0"/>
          </a:p>
        </p:txBody>
      </p:sp>
      <p:sp>
        <p:nvSpPr>
          <p:cNvPr id="3" name="code card"/>
          <p:cNvSpPr/>
          <p:nvPr/>
        </p:nvSpPr>
        <p:spPr>
          <a:xfrm>
            <a:off x="548640" y="1325880"/>
            <a:ext cx="6949440" cy="3657600"/>
          </a:xfrm>
          <a:prstGeom prst="roundRect">
            <a:avLst>
              <a:gd name="adj" fmla="val 3000"/>
            </a:avLst>
          </a:prstGeom>
          <a:solidFill>
            <a:schemeClr val="bg2"/>
          </a:solidFill>
          <a:ln w="12700">
            <a:solidFill>
              <a:schemeClr val="bg2"/>
            </a:solidFill>
            <a:prstDash val="solid"/>
          </a:ln>
        </p:spPr>
      </p:sp>
      <p:sp>
        <p:nvSpPr>
          <p:cNvPr id="4" name="commands"/>
          <p:cNvSpPr txBox="1"/>
          <p:nvPr/>
        </p:nvSpPr>
        <p:spPr>
          <a:xfrm>
            <a:off x="868680" y="1600200"/>
            <a:ext cx="6400800" cy="3931920"/>
          </a:xfrm>
          <a:prstGeom prst="rect">
            <a:avLst/>
          </a:prstGeom>
          <a:noFill/>
          <a:ln/>
        </p:spPr>
        <p:txBody>
          <a:bodyPr wrap="square" lIns="0" tIns="0" rIns="0" bIns="0" rtlCol="0" anchor="t"/>
          <a:lstStyle/>
          <a:p>
            <a:pPr indent="0" marL="0">
              <a:spcAft>
                <a:spcPts val="1000"/>
              </a:spcAft>
              <a:buNone/>
            </a:pPr>
            <a:r>
              <a:rPr lang="en-US" sz="1600" dirty="0">
                <a:solidFill>
                  <a:schemeClr val="tx2"/>
                </a:solidFill>
                <a:latin typeface="Courier New" pitchFamily="34" charset="0"/>
                <a:ea typeface="Courier New" pitchFamily="34" charset="-122"/>
                <a:cs typeface="Courier New" pitchFamily="34" charset="-120"/>
              </a:rPr>
              <a:t>pip install -r requirements.txt</a:t>
            </a:r>
            <a:endParaRPr lang="en-US" sz="1600" dirty="0"/>
          </a:p>
          <a:p>
            <a:pPr indent="0" marL="0">
              <a:spcAft>
                <a:spcPts val="1000"/>
              </a:spcAft>
              <a:buNone/>
            </a:pPr>
            <a:r>
              <a:rPr lang="en-US" sz="1600" dirty="0">
                <a:solidFill>
                  <a:schemeClr val="tx2"/>
                </a:solidFill>
                <a:latin typeface="Courier New" pitchFamily="34" charset="0"/>
                <a:ea typeface="Courier New" pitchFamily="34" charset="-122"/>
                <a:cs typeface="Courier New" pitchFamily="34" charset="-120"/>
              </a:rPr>
              <a:t>python fetch_data.py</a:t>
            </a:r>
            <a:endParaRPr lang="en-US" sz="1600" dirty="0"/>
          </a:p>
          <a:p>
            <a:pPr indent="0" marL="0">
              <a:spcAft>
                <a:spcPts val="1000"/>
              </a:spcAft>
              <a:buNone/>
            </a:pPr>
            <a:r>
              <a:rPr lang="en-US" sz="1600" dirty="0">
                <a:solidFill>
                  <a:schemeClr val="tx2"/>
                </a:solidFill>
                <a:latin typeface="Courier New" pitchFamily="34" charset="0"/>
                <a:ea typeface="Courier New" pitchFamily="34" charset="-122"/>
                <a:cs typeface="Courier New" pitchFamily="34" charset="-120"/>
              </a:rPr>
              <a:t>python clean_frames.py</a:t>
            </a:r>
            <a:endParaRPr lang="en-US" sz="1600" dirty="0"/>
          </a:p>
          <a:p>
            <a:pPr indent="0" marL="0">
              <a:spcAft>
                <a:spcPts val="1000"/>
              </a:spcAft>
              <a:buNone/>
            </a:pPr>
            <a:r>
              <a:rPr lang="en-US" sz="1600" dirty="0">
                <a:solidFill>
                  <a:schemeClr val="tx2"/>
                </a:solidFill>
                <a:latin typeface="Courier New" pitchFamily="34" charset="0"/>
                <a:ea typeface="Courier New" pitchFamily="34" charset="-122"/>
                <a:cs typeface="Courier New" pitchFamily="34" charset="-120"/>
              </a:rPr>
              <a:t>python run_pipeline.py</a:t>
            </a:r>
            <a:endParaRPr lang="en-US" sz="1600" dirty="0"/>
          </a:p>
          <a:p>
            <a:pPr indent="0" marL="0">
              <a:spcAft>
                <a:spcPts val="1000"/>
              </a:spcAft>
              <a:buNone/>
            </a:pPr>
            <a:r>
              <a:rPr lang="en-US" sz="1600" dirty="0">
                <a:solidFill>
                  <a:schemeClr val="tx2"/>
                </a:solidFill>
                <a:latin typeface="Courier New" pitchFamily="34" charset="0"/>
                <a:ea typeface="Courier New" pitchFamily="34" charset="-122"/>
                <a:cs typeface="Courier New" pitchFamily="34" charset="-120"/>
              </a:rPr>
              <a:t>python stress_test.py</a:t>
            </a:r>
            <a:endParaRPr lang="en-US" sz="1600" dirty="0"/>
          </a:p>
          <a:p>
            <a:pPr indent="0" marL="0">
              <a:spcAft>
                <a:spcPts val="1000"/>
              </a:spcAft>
              <a:buNone/>
            </a:pPr>
            <a:r>
              <a:rPr lang="en-US" sz="1600" dirty="0">
                <a:solidFill>
                  <a:schemeClr val="tx2"/>
                </a:solidFill>
                <a:latin typeface="Courier New" pitchFamily="34" charset="0"/>
                <a:ea typeface="Courier New" pitchFamily="34" charset="-122"/>
                <a:cs typeface="Courier New" pitchFamily="34" charset="-120"/>
              </a:rPr>
              <a:t>python radioml_classifier.py train</a:t>
            </a:r>
            <a:endParaRPr lang="en-US" sz="1600" dirty="0"/>
          </a:p>
          <a:p>
            <a:pPr indent="0" marL="0">
              <a:spcAft>
                <a:spcPts val="1000"/>
              </a:spcAft>
              <a:buNone/>
            </a:pPr>
            <a:r>
              <a:rPr lang="en-US" sz="1600" dirty="0">
                <a:solidFill>
                  <a:schemeClr val="tx2"/>
                </a:solidFill>
                <a:latin typeface="Courier New" pitchFamily="34" charset="0"/>
                <a:ea typeface="Courier New" pitchFamily="34" charset="-122"/>
                <a:cs typeface="Courier New" pitchFamily="34" charset="-120"/>
              </a:rPr>
              <a:t>python radioml_classifier.py transfer</a:t>
            </a:r>
            <a:endParaRPr lang="en-US" sz="1600" dirty="0"/>
          </a:p>
        </p:txBody>
      </p:sp>
      <p:sp>
        <p:nvSpPr>
          <p:cNvPr id="5" name="run notes"/>
          <p:cNvSpPr txBox="1"/>
          <p:nvPr/>
        </p:nvSpPr>
        <p:spPr>
          <a:xfrm>
            <a:off x="7863840" y="1371600"/>
            <a:ext cx="3749040" cy="438912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tx1"/>
                </a:solidFill>
              </a:rPr>
              <a:t>Everything is on GitHub: </a:t>
            </a:r>
            <a:pPr indent="0" marL="0">
              <a:spcAft>
                <a:spcPts val="800"/>
              </a:spcAft>
              <a:buNone/>
            </a:pPr>
            <a:r>
              <a:rPr lang="en-US" sz="1600" dirty="0">
                <a:solidFill>
                  <a:schemeClr val="tx1"/>
                </a:solidFill>
              </a:rPr>
              <a:t>code, README, results and plots</a:t>
            </a:r>
            <a:endParaRPr lang="en-US" sz="1600" dirty="0"/>
          </a:p>
          <a:p>
            <a:pPr marL="342900" indent="-342900">
              <a:spcAft>
                <a:spcPts val="800"/>
              </a:spcAft>
              <a:buSzPct val="100000"/>
              <a:buChar char="•"/>
            </a:pPr>
            <a:r>
              <a:rPr lang="en-US" sz="1600" dirty="0">
                <a:solidFill>
                  <a:schemeClr val="tx1"/>
                </a:solidFill>
              </a:rPr>
              <a:t>fetch_data.py downloads the passes and checks each one really is SONATE-2</a:t>
            </a:r>
            <a:endParaRPr lang="en-US" sz="1600" dirty="0"/>
          </a:p>
          <a:p>
            <a:pPr marL="342900" indent="-342900">
              <a:spcAft>
                <a:spcPts val="800"/>
              </a:spcAft>
              <a:buSzPct val="100000"/>
              <a:buChar char="•"/>
            </a:pPr>
            <a:r>
              <a:rPr lang="en-US" sz="1600" dirty="0">
                <a:solidFill>
                  <a:schemeClr val="tx1"/>
                </a:solidFill>
              </a:rPr>
              <a:t>No tuning between passes: one command decodes them all and opens a summary graph</a:t>
            </a:r>
            <a:endParaRPr lang="en-US" sz="1600" dirty="0"/>
          </a:p>
          <a:p>
            <a:pPr marL="342900" indent="-342900">
              <a:spcAft>
                <a:spcPts val="800"/>
              </a:spcAft>
              <a:buSzPct val="100000"/>
              <a:buChar char="•"/>
            </a:pPr>
            <a:r>
              <a:rPr lang="en-US" sz="1600" dirty="0">
                <a:solidFill>
                  <a:schemeClr val="tx1"/>
                </a:solidFill>
              </a:rPr>
              <a:t>Live demo: python decoder.py &lt;audio.ogg&gt;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Limitations and next steps</a:t>
            </a:r>
            <a:endParaRPr lang="en-US" sz="3200" dirty="0"/>
          </a:p>
        </p:txBody>
      </p:sp>
      <p:sp>
        <p:nvSpPr>
          <p:cNvPr id="3" name="lim card 0"/>
          <p:cNvSpPr/>
          <p:nvPr/>
        </p:nvSpPr>
        <p:spPr>
          <a:xfrm>
            <a:off x="548640" y="1371600"/>
            <a:ext cx="5394960" cy="3657600"/>
          </a:xfrm>
          <a:prstGeom prst="roundRect">
            <a:avLst>
              <a:gd name="adj" fmla="val 3000"/>
            </a:avLst>
          </a:prstGeom>
          <a:solidFill>
            <a:schemeClr val="bg2"/>
          </a:solidFill>
          <a:ln w="12700">
            <a:solidFill>
              <a:schemeClr val="bg2"/>
            </a:solidFill>
            <a:prstDash val="solid"/>
          </a:ln>
        </p:spPr>
      </p:sp>
      <p:sp>
        <p:nvSpPr>
          <p:cNvPr id="4" name="lim title 0"/>
          <p:cNvSpPr txBox="1"/>
          <p:nvPr/>
        </p:nvSpPr>
        <p:spPr>
          <a:xfrm>
            <a:off x="868680" y="1600200"/>
            <a:ext cx="4754880" cy="502920"/>
          </a:xfrm>
          <a:prstGeom prst="rect">
            <a:avLst/>
          </a:prstGeom>
          <a:noFill/>
          <a:ln/>
        </p:spPr>
        <p:txBody>
          <a:bodyPr wrap="square" lIns="0" tIns="0" rIns="0" bIns="0" rtlCol="0" anchor="ctr"/>
          <a:lstStyle/>
          <a:p>
            <a:pPr indent="0" marL="0">
              <a:buNone/>
            </a:pPr>
            <a:r>
              <a:rPr lang="en-US" sz="2400" b="1" dirty="0">
                <a:solidFill>
                  <a:schemeClr val="accent2"/>
                </a:solidFill>
                <a:latin typeface="Arial" pitchFamily="34" charset="0"/>
                <a:ea typeface="Arial" pitchFamily="34" charset="-122"/>
                <a:cs typeface="Arial" pitchFamily="34" charset="-120"/>
              </a:rPr>
              <a:t>Limitations</a:t>
            </a:r>
            <a:endParaRPr lang="en-US" sz="2400" dirty="0"/>
          </a:p>
        </p:txBody>
      </p:sp>
      <p:sp>
        <p:nvSpPr>
          <p:cNvPr id="5" name="lim items 0"/>
          <p:cNvSpPr txBox="1"/>
          <p:nvPr/>
        </p:nvSpPr>
        <p:spPr>
          <a:xfrm>
            <a:off x="868680" y="2286000"/>
            <a:ext cx="4754880" cy="33832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We lose packets at the weak start and end of each pass</a:t>
            </a:r>
            <a:endParaRPr lang="en-US" sz="1600" dirty="0"/>
          </a:p>
          <a:p>
            <a:pPr marL="342900" indent="-342900">
              <a:spcAft>
                <a:spcPts val="800"/>
              </a:spcAft>
              <a:buSzPct val="100000"/>
              <a:buChar char="•"/>
            </a:pPr>
            <a:r>
              <a:rPr lang="en-US" sz="1600" dirty="0">
                <a:solidFill>
                  <a:schemeClr val="tx1"/>
                </a:solidFill>
              </a:rPr>
              <a:t>Input is ground-station audio, not raw I/Q, so the station did the carrier tracking</a:t>
            </a:r>
            <a:endParaRPr lang="en-US" sz="1600" dirty="0"/>
          </a:p>
          <a:p>
            <a:pPr marL="342900" indent="-342900">
              <a:spcAft>
                <a:spcPts val="800"/>
              </a:spcAft>
              <a:buSzPct val="100000"/>
              <a:buChar char="•"/>
            </a:pPr>
            <a:r>
              <a:rPr lang="en-US" sz="1600" dirty="0">
                <a:solidFill>
                  <a:schemeClr val="tx1"/>
                </a:solidFill>
              </a:rPr>
              <a:t>Payload fields (voltages, temperatures) aren't public, for us or SatNOGS</a:t>
            </a:r>
            <a:endParaRPr lang="en-US" sz="1600" dirty="0"/>
          </a:p>
          <a:p>
            <a:pPr marL="342900" indent="-342900">
              <a:spcAft>
                <a:spcPts val="800"/>
              </a:spcAft>
              <a:buSzPct val="100000"/>
              <a:buChar char="•"/>
            </a:pPr>
            <a:r>
              <a:rPr lang="en-US" sz="1600" dirty="0">
                <a:solidFill>
                  <a:schemeClr val="tx1"/>
                </a:solidFill>
              </a:rPr>
              <a:t>RadioML transfer test is inconclusive on audio-derived I/Q</a:t>
            </a:r>
            <a:endParaRPr lang="en-US" sz="1600" dirty="0"/>
          </a:p>
        </p:txBody>
      </p:sp>
      <p:sp>
        <p:nvSpPr>
          <p:cNvPr id="6" name="lim card 1"/>
          <p:cNvSpPr/>
          <p:nvPr/>
        </p:nvSpPr>
        <p:spPr>
          <a:xfrm>
            <a:off x="6217920" y="1371600"/>
            <a:ext cx="5394960" cy="3657600"/>
          </a:xfrm>
          <a:prstGeom prst="roundRect">
            <a:avLst>
              <a:gd name="adj" fmla="val 3000"/>
            </a:avLst>
          </a:prstGeom>
          <a:solidFill>
            <a:schemeClr val="bg2"/>
          </a:solidFill>
          <a:ln w="12700">
            <a:solidFill>
              <a:schemeClr val="bg2"/>
            </a:solidFill>
            <a:prstDash val="solid"/>
          </a:ln>
        </p:spPr>
      </p:sp>
      <p:sp>
        <p:nvSpPr>
          <p:cNvPr id="7" name="lim title 1"/>
          <p:cNvSpPr txBox="1"/>
          <p:nvPr/>
        </p:nvSpPr>
        <p:spPr>
          <a:xfrm>
            <a:off x="6537960" y="1600200"/>
            <a:ext cx="4754880" cy="50292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Next steps</a:t>
            </a:r>
            <a:endParaRPr lang="en-US" sz="2400" dirty="0"/>
          </a:p>
        </p:txBody>
      </p:sp>
      <p:sp>
        <p:nvSpPr>
          <p:cNvPr id="8" name="lim items 1"/>
          <p:cNvSpPr txBox="1"/>
          <p:nvPr/>
        </p:nvSpPr>
        <p:spPr>
          <a:xfrm>
            <a:off x="6537960" y="2286000"/>
            <a:ext cx="4754880" cy="33832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Tracking timing loop (Gardner) instead of the offset search: faster and more sensitive</a:t>
            </a:r>
            <a:endParaRPr lang="en-US" sz="1600" dirty="0"/>
          </a:p>
          <a:p>
            <a:pPr marL="342900" indent="-342900">
              <a:spcAft>
                <a:spcPts val="800"/>
              </a:spcAft>
              <a:buSzPct val="100000"/>
              <a:buChar char="•"/>
            </a:pPr>
            <a:r>
              <a:rPr lang="en-US" sz="1600" dirty="0">
                <a:solidFill>
                  <a:schemeClr val="tx1"/>
                </a:solidFill>
              </a:rPr>
              <a:t>Decode raw I/Q recordings and track the carrier ourselves</a:t>
            </a:r>
            <a:endParaRPr lang="en-US" sz="1600" dirty="0"/>
          </a:p>
          <a:p>
            <a:pPr marL="342900" indent="-342900">
              <a:spcAft>
                <a:spcPts val="800"/>
              </a:spcAft>
              <a:buSzPct val="100000"/>
              <a:buChar char="•"/>
            </a:pPr>
            <a:r>
              <a:rPr lang="en-US" sz="1600" dirty="0">
                <a:solidFill>
                  <a:schemeClr val="tx1"/>
                </a:solidFill>
              </a:rPr>
              <a:t>Rerun the RadioML transfer test on raw I/Q</a:t>
            </a:r>
            <a:endParaRPr lang="en-US" sz="1600" dirty="0"/>
          </a:p>
          <a:p>
            <a:pPr marL="342900" indent="-342900">
              <a:spcAft>
                <a:spcPts val="800"/>
              </a:spcAft>
              <a:buSzPct val="100000"/>
              <a:buChar char="•"/>
            </a:pPr>
            <a:r>
              <a:rPr lang="en-US" sz="1600" dirty="0">
                <a:solidFill>
                  <a:schemeClr val="tx1"/>
                </a:solidFill>
              </a:rPr>
              <a:t>Try 3-bit repairs, with the false-accept rate measured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rPr>
              <a:t>Thank you</a:t>
            </a:r>
            <a:endParaRPr lang="en-US" sz="3200" dirty="0"/>
          </a:p>
        </p:txBody>
      </p:sp>
      <p:sp>
        <p:nvSpPr>
          <p:cNvPr id="3" name="close stat 0"/>
          <p:cNvSpPr txBox="1"/>
          <p:nvPr/>
        </p:nvSpPr>
        <p:spPr>
          <a:xfrm>
            <a:off x="548640" y="1737360"/>
            <a:ext cx="2651760" cy="914400"/>
          </a:xfrm>
          <a:prstGeom prst="rect">
            <a:avLst/>
          </a:prstGeom>
          <a:noFill/>
          <a:ln/>
        </p:spPr>
        <p:txBody>
          <a:bodyPr wrap="square" lIns="0" tIns="0" rIns="0" bIns="0" rtlCol="0" anchor="ctr"/>
          <a:lstStyle/>
          <a:p>
            <a:pPr indent="0" marL="0">
              <a:buNone/>
            </a:pPr>
            <a:r>
              <a:rPr lang="en-US" sz="4800" b="1" dirty="0">
                <a:solidFill>
                  <a:schemeClr val="accent4"/>
                </a:solidFill>
                <a:latin typeface="Arial" pitchFamily="34" charset="0"/>
                <a:ea typeface="Arial" pitchFamily="34" charset="-122"/>
                <a:cs typeface="Arial" pitchFamily="34" charset="-120"/>
              </a:rPr>
              <a:t>780</a:t>
            </a:r>
            <a:endParaRPr lang="en-US" sz="4800" dirty="0"/>
          </a:p>
        </p:txBody>
      </p:sp>
      <p:sp>
        <p:nvSpPr>
          <p:cNvPr id="4" name="close label 0"/>
          <p:cNvSpPr txBox="1"/>
          <p:nvPr/>
        </p:nvSpPr>
        <p:spPr>
          <a:xfrm>
            <a:off x="548640" y="2651760"/>
            <a:ext cx="2651760" cy="457200"/>
          </a:xfrm>
          <a:prstGeom prst="rect">
            <a:avLst/>
          </a:prstGeom>
          <a:noFill/>
          <a:ln/>
        </p:spPr>
        <p:txBody>
          <a:bodyPr wrap="square" lIns="0" tIns="0" rIns="0" bIns="0" rtlCol="0" anchor="ctr"/>
          <a:lstStyle/>
          <a:p>
            <a:pPr indent="0" marL="0">
              <a:buNone/>
            </a:pPr>
            <a:r>
              <a:rPr lang="en-US" sz="1800" dirty="0">
                <a:solidFill>
                  <a:schemeClr val="bg1"/>
                </a:solidFill>
              </a:rPr>
              <a:t>verified packets</a:t>
            </a:r>
            <a:endParaRPr lang="en-US" sz="1800" dirty="0"/>
          </a:p>
        </p:txBody>
      </p:sp>
      <p:sp>
        <p:nvSpPr>
          <p:cNvPr id="5" name="close stat 1"/>
          <p:cNvSpPr txBox="1"/>
          <p:nvPr/>
        </p:nvSpPr>
        <p:spPr>
          <a:xfrm>
            <a:off x="3383280" y="1737360"/>
            <a:ext cx="2651760" cy="91440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10</a:t>
            </a:r>
            <a:endParaRPr lang="en-US" sz="4800" dirty="0"/>
          </a:p>
        </p:txBody>
      </p:sp>
      <p:sp>
        <p:nvSpPr>
          <p:cNvPr id="6" name="close label 1"/>
          <p:cNvSpPr txBox="1"/>
          <p:nvPr/>
        </p:nvSpPr>
        <p:spPr>
          <a:xfrm>
            <a:off x="3383280" y="2651760"/>
            <a:ext cx="2651760" cy="457200"/>
          </a:xfrm>
          <a:prstGeom prst="rect">
            <a:avLst/>
          </a:prstGeom>
          <a:noFill/>
          <a:ln/>
        </p:spPr>
        <p:txBody>
          <a:bodyPr wrap="square" lIns="0" tIns="0" rIns="0" bIns="0" rtlCol="0" anchor="ctr"/>
          <a:lstStyle/>
          <a:p>
            <a:pPr indent="0" marL="0">
              <a:buNone/>
            </a:pPr>
            <a:r>
              <a:rPr lang="en-US" sz="1800" dirty="0">
                <a:solidFill>
                  <a:schemeClr val="bg1"/>
                </a:solidFill>
              </a:rPr>
              <a:t>ghost frames</a:t>
            </a:r>
            <a:endParaRPr lang="en-US" sz="1800" dirty="0"/>
          </a:p>
        </p:txBody>
      </p:sp>
      <p:sp>
        <p:nvSpPr>
          <p:cNvPr id="7" name="close stat 2"/>
          <p:cNvSpPr txBox="1"/>
          <p:nvPr/>
        </p:nvSpPr>
        <p:spPr>
          <a:xfrm>
            <a:off x="6217920" y="1737360"/>
            <a:ext cx="2651760" cy="914400"/>
          </a:xfrm>
          <a:prstGeom prst="rect">
            <a:avLst/>
          </a:prstGeom>
          <a:noFill/>
          <a:ln/>
        </p:spPr>
        <p:txBody>
          <a:bodyPr wrap="square" lIns="0" tIns="0" rIns="0" bIns="0" rtlCol="0" anchor="ctr"/>
          <a:lstStyle/>
          <a:p>
            <a:pPr indent="0" marL="0">
              <a:buNone/>
            </a:pPr>
            <a:r>
              <a:rPr lang="en-US" sz="4800" b="1" dirty="0">
                <a:solidFill>
                  <a:schemeClr val="accent4"/>
                </a:solidFill>
                <a:latin typeface="Arial" pitchFamily="34" charset="0"/>
                <a:ea typeface="Arial" pitchFamily="34" charset="-122"/>
                <a:cs typeface="Arial" pitchFamily="34" charset="-120"/>
              </a:rPr>
              <a:t>≤ 0.4 s</a:t>
            </a:r>
            <a:endParaRPr lang="en-US" sz="4800" dirty="0"/>
          </a:p>
        </p:txBody>
      </p:sp>
      <p:sp>
        <p:nvSpPr>
          <p:cNvPr id="8" name="close label 2"/>
          <p:cNvSpPr txBox="1"/>
          <p:nvPr/>
        </p:nvSpPr>
        <p:spPr>
          <a:xfrm>
            <a:off x="6217920" y="2651760"/>
            <a:ext cx="2651760" cy="457200"/>
          </a:xfrm>
          <a:prstGeom prst="rect">
            <a:avLst/>
          </a:prstGeom>
          <a:noFill/>
          <a:ln/>
        </p:spPr>
        <p:txBody>
          <a:bodyPr wrap="square" lIns="0" tIns="0" rIns="0" bIns="0" rtlCol="0" anchor="ctr"/>
          <a:lstStyle/>
          <a:p>
            <a:pPr indent="0" marL="0">
              <a:buNone/>
            </a:pPr>
            <a:r>
              <a:rPr lang="en-US" sz="1800" dirty="0">
                <a:solidFill>
                  <a:schemeClr val="bg1"/>
                </a:solidFill>
              </a:rPr>
              <a:t>re-acquisition</a:t>
            </a:r>
            <a:endParaRPr lang="en-US" sz="1800" dirty="0"/>
          </a:p>
        </p:txBody>
      </p:sp>
      <p:sp>
        <p:nvSpPr>
          <p:cNvPr id="9" name="close stat 3"/>
          <p:cNvSpPr txBox="1"/>
          <p:nvPr/>
        </p:nvSpPr>
        <p:spPr>
          <a:xfrm>
            <a:off x="9052560" y="1737360"/>
            <a:ext cx="2651760" cy="91440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0</a:t>
            </a:r>
            <a:endParaRPr lang="en-US" sz="4800" dirty="0"/>
          </a:p>
        </p:txBody>
      </p:sp>
      <p:sp>
        <p:nvSpPr>
          <p:cNvPr id="10" name="close label 3"/>
          <p:cNvSpPr txBox="1"/>
          <p:nvPr/>
        </p:nvSpPr>
        <p:spPr>
          <a:xfrm>
            <a:off x="9052560" y="2651760"/>
            <a:ext cx="2651760" cy="457200"/>
          </a:xfrm>
          <a:prstGeom prst="rect">
            <a:avLst/>
          </a:prstGeom>
          <a:noFill/>
          <a:ln/>
        </p:spPr>
        <p:txBody>
          <a:bodyPr wrap="square" lIns="0" tIns="0" rIns="0" bIns="0" rtlCol="0" anchor="ctr"/>
          <a:lstStyle/>
          <a:p>
            <a:pPr indent="0" marL="0">
              <a:buNone/>
            </a:pPr>
            <a:r>
              <a:rPr lang="en-US" sz="1800" dirty="0">
                <a:solidFill>
                  <a:schemeClr val="bg1"/>
                </a:solidFill>
              </a:rPr>
              <a:t>settings to tune</a:t>
            </a:r>
            <a:endParaRPr lang="en-US" sz="1800" dirty="0"/>
          </a:p>
        </p:txBody>
      </p:sp>
      <p:sp>
        <p:nvSpPr>
          <p:cNvPr id="11" name="credits"/>
          <p:cNvSpPr txBox="1"/>
          <p:nvPr/>
        </p:nvSpPr>
        <p:spPr>
          <a:xfrm>
            <a:off x="548640" y="4846320"/>
            <a:ext cx="11064240" cy="1097280"/>
          </a:xfrm>
          <a:prstGeom prst="rect">
            <a:avLst/>
          </a:prstGeom>
          <a:noFill/>
          <a:ln/>
        </p:spPr>
        <p:txBody>
          <a:bodyPr wrap="square" lIns="0" tIns="0" rIns="0" bIns="0" rtlCol="0" anchor="t"/>
          <a:lstStyle/>
          <a:p>
            <a:pPr indent="0" marL="0">
              <a:spcAft>
                <a:spcPts val="800"/>
              </a:spcAft>
              <a:buNone/>
            </a:pPr>
            <a:r>
              <a:rPr lang="en-US" sz="1600" dirty="0">
                <a:solidFill>
                  <a:schemeClr val="bg1"/>
                </a:solidFill>
              </a:rPr>
              <a:t>Team: Katie Nguyen · Wisena Joseph · jha-ruch</a:t>
            </a:r>
            <a:endParaRPr lang="en-US" sz="1600" dirty="0"/>
          </a:p>
          <a:p>
            <a:pPr indent="0" marL="0">
              <a:spcAft>
                <a:spcPts val="800"/>
              </a:spcAft>
              <a:buNone/>
            </a:pPr>
            <a:r>
              <a:rPr lang="en-US" sz="1200" dirty="0">
                <a:solidFill>
                  <a:schemeClr val="accent3"/>
                </a:solidFill>
              </a:rPr>
              <a:t>Data: SatNOGS (Libre Space Foundation) · SONATE-2 · RadioML 2016.10A (DeepSig, CC BY-NC-SA 4.0); O'Shea &amp; West, GNU Radio Conference 2016</a:t>
            </a:r>
            <a:endParaRPr lang="en-US" sz="1600" dirty="0"/>
          </a:p>
        </p:txBody>
      </p:sp>
    </p:spTree>
  </p:cSld>
  <p:clrMapOvr>
    <a:masterClrMapping/>
  </p:clrMapOvr>
</p:sld>
</file>

<file path=ppt/theme/theme1.xml><?xml version="1.0" encoding="utf-8"?>
<a:theme xmlns:a="http://schemas.openxmlformats.org/drawingml/2006/main" name="Ghost Frames">
  <a:themeElements>
    <a:clrScheme name="Ghost Frames">
      <a:dk1>
        <a:srgbClr val="1B2333"/>
      </a:dk1>
      <a:lt1>
        <a:srgbClr val="FFFFFF"/>
      </a:lt1>
      <a:dk2>
        <a:srgbClr val="0B1D3A"/>
      </a:dk2>
      <a:lt2>
        <a:srgbClr val="EEF2F8"/>
      </a:lt2>
      <a:accent1>
        <a:srgbClr val="2A6FDB"/>
      </a:accent1>
      <a:accent2>
        <a:srgbClr val="E8743B"/>
      </a:accent2>
      <a:accent3>
        <a:srgbClr val="9AA0A6"/>
      </a:accent3>
      <a:accent4>
        <a:srgbClr val="9DBDF2"/>
      </a:accent4>
      <a:accent5>
        <a:srgbClr val="1C7293"/>
      </a:accent5>
      <a:accent6>
        <a:srgbClr val="F2B134"/>
      </a:accent6>
      <a:hlink>
        <a:srgbClr val="2A6FDB"/>
      </a:hlink>
      <a:folHlink>
        <a:srgbClr val="6D2E9E"/>
      </a:folHlink>
    </a:clrScheme>
    <a:fontScheme name="Ghost Frame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GHOST FRAMES</dc:title>
  <dc:subject>PptxGenJS Presentation</dc:subject>
  <dc:creator>PptxGenJS</dc:creator>
  <cp:lastModifiedBy>PptxGenJS</cp:lastModifiedBy>
  <cp:revision>1</cp:revision>
  <dcterms:created xsi:type="dcterms:W3CDTF">2026-10-03T17:29:50Z</dcterms:created>
  <dcterms:modified xsi:type="dcterms:W3CDTF">2026-10-03T17:29:50Z</dcterms:modified>
</cp:coreProperties>
</file>